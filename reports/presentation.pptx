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22"/>
  </p:notesMasterIdLst>
  <p:sldIdLst>
    <p:sldId id="256" r:id="rId2"/>
    <p:sldId id="274" r:id="rId3"/>
    <p:sldId id="269" r:id="rId4"/>
    <p:sldId id="257" r:id="rId5"/>
    <p:sldId id="278" r:id="rId6"/>
    <p:sldId id="279" r:id="rId7"/>
    <p:sldId id="273" r:id="rId8"/>
    <p:sldId id="280" r:id="rId9"/>
    <p:sldId id="277" r:id="rId10"/>
    <p:sldId id="265" r:id="rId11"/>
    <p:sldId id="281" r:id="rId12"/>
    <p:sldId id="282" r:id="rId13"/>
    <p:sldId id="270" r:id="rId14"/>
    <p:sldId id="272" r:id="rId15"/>
    <p:sldId id="284" r:id="rId16"/>
    <p:sldId id="266" r:id="rId17"/>
    <p:sldId id="285" r:id="rId18"/>
    <p:sldId id="262" r:id="rId19"/>
    <p:sldId id="267"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654344-4ADB-3A25-027A-D0579363553F}" v="101" dt="2025-05-24T05:50:06.277"/>
    <p1510:client id="{197A09A3-CC45-AE66-22D7-EE3D7D8EA628}" v="380" dt="2025-05-24T06:14:30.712"/>
    <p1510:client id="{1A6CBF72-2FFE-E57A-66CF-4B098A49FDCB}" v="56" dt="2025-05-25T17:04:19.922"/>
    <p1510:client id="{455AE4C8-7B23-DF87-1E9A-0CC2B81D9C6C}" v="58" dt="2025-05-24T04:34:30.279"/>
    <p1510:client id="{4BED93C6-5C5A-E9A5-AC3B-F53D729AA856}" v="134" dt="2025-05-25T10:57:25.827"/>
    <p1510:client id="{8471E915-5BB8-C0FA-FD80-87A5E21B9F02}" v="15" dt="2025-05-25T17:18:01.981"/>
    <p1510:client id="{85EC60CB-20B4-DD33-67D4-34DDBCA05210}" v="402" dt="2025-05-24T01:58:23.713"/>
    <p1510:client id="{922AD616-0696-12F7-CC60-9DA16C90DD60}" v="3" dt="2025-05-25T07:59:56.143"/>
    <p1510:client id="{931CFA00-5220-5ABC-4778-37E653C6F9CF}" v="596" dt="2025-05-25T05:49:37.758"/>
    <p1510:client id="{CA97FE75-735A-D0BB-35F7-34A8DDBC5993}" v="697" dt="2025-05-25T11:35:54.837"/>
    <p1510:client id="{CEB1E441-86B5-55F5-702A-197B7AA23782}" v="283" dt="2025-05-25T10:37:42.341"/>
    <p1510:client id="{FE4869F0-4183-4A5A-9B9A-A9B000D2FACD}" v="47" dt="2025-05-25T07:57:55.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A54494-9DAE-4EBF-AC9C-304813342A41}" type="datetimeFigureOut">
              <a:t>25/05/2025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FC7D9B-51EB-41C5-8C33-F3BE1AE8A166}" type="slidenum">
              <a:t>‹#›</a:t>
            </a:fld>
            <a:endParaRPr lang="en-GB"/>
          </a:p>
        </p:txBody>
      </p:sp>
    </p:spTree>
    <p:extLst>
      <p:ext uri="{BB962C8B-B14F-4D97-AF65-F5344CB8AC3E}">
        <p14:creationId xmlns:p14="http://schemas.microsoft.com/office/powerpoint/2010/main" val="126762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lnSpc>
                <a:spcPct val="110000"/>
              </a:lnSpc>
              <a:spcBef>
                <a:spcPts val="1000"/>
              </a:spcBef>
            </a:pPr>
            <a:r>
              <a:rPr lang="en-AU"/>
              <a:t>Formulate a model that allows the prediction of successful or rejected kidney allografts for clinicians, that can be used on both biopsy and blood data, depending on the availability. </a:t>
            </a:r>
            <a:endParaRPr lang="en-US"/>
          </a:p>
          <a:p>
            <a:pPr marL="342900" indent="-342900">
              <a:lnSpc>
                <a:spcPct val="110000"/>
              </a:lnSpc>
              <a:spcBef>
                <a:spcPts val="1000"/>
              </a:spcBef>
              <a:buFont typeface="Arial,Sans-Serif"/>
              <a:buChar char="•"/>
            </a:pPr>
            <a:r>
              <a:rPr lang="en-AU"/>
              <a:t>Biopsy data is considered the “gold standard” for diagnosis (Al-</a:t>
            </a:r>
            <a:r>
              <a:rPr lang="en-AU" err="1"/>
              <a:t>Awwa</a:t>
            </a:r>
            <a:r>
              <a:rPr lang="en-AU"/>
              <a:t> et al., 1998)</a:t>
            </a:r>
            <a:endParaRPr lang="en-AU">
              <a:ea typeface="Calibri"/>
              <a:cs typeface="Calibri"/>
            </a:endParaRPr>
          </a:p>
          <a:p>
            <a:pPr marL="342900" indent="-342900">
              <a:lnSpc>
                <a:spcPct val="110000"/>
              </a:lnSpc>
              <a:spcBef>
                <a:spcPts val="1000"/>
              </a:spcBef>
              <a:buFont typeface="Arial,Sans-Serif"/>
              <a:buChar char="•"/>
            </a:pPr>
            <a:r>
              <a:rPr lang="en-AU"/>
              <a:t>We acknowledge that collection of biopsy data is invasive and not as accessible while blood data, although not as accurate, is more accessible, therefore include the option to choose which data to input for results. </a:t>
            </a:r>
            <a:endParaRPr lang="en-AU">
              <a:ea typeface="Calibri"/>
              <a:cs typeface="Calibri"/>
            </a:endParaRPr>
          </a:p>
          <a:p>
            <a:pPr marL="342900" indent="-342900">
              <a:lnSpc>
                <a:spcPct val="110000"/>
              </a:lnSpc>
              <a:spcBef>
                <a:spcPts val="1000"/>
              </a:spcBef>
              <a:buFont typeface="Arial,Sans-Serif"/>
              <a:buChar char="•"/>
            </a:pPr>
            <a:r>
              <a:rPr lang="en-AU"/>
              <a:t>Our target audience for the shiny application is the clinician</a:t>
            </a:r>
            <a:endParaRPr lang="en-US"/>
          </a:p>
          <a:p>
            <a:pPr marL="571500" lvl="1" indent="-342900">
              <a:lnSpc>
                <a:spcPct val="110000"/>
              </a:lnSpc>
              <a:spcBef>
                <a:spcPts val="500"/>
              </a:spcBef>
              <a:buFont typeface="Courier New,monospace"/>
              <a:buChar char="•"/>
            </a:pPr>
            <a:r>
              <a:rPr lang="en-AU"/>
              <a:t>To pin-point patients to monitor closely</a:t>
            </a:r>
            <a:endParaRPr lang="en-US"/>
          </a:p>
          <a:p>
            <a:pPr marL="571500" lvl="1" indent="-342900">
              <a:lnSpc>
                <a:spcPct val="110000"/>
              </a:lnSpc>
              <a:spcBef>
                <a:spcPts val="500"/>
              </a:spcBef>
              <a:buFont typeface="Courier New,monospace"/>
              <a:buChar char="•"/>
            </a:pPr>
            <a:r>
              <a:rPr lang="en-AU"/>
              <a:t>Have the option to forward the result to patients with own advice on management depending on whether they are likely to get an allograft rejection or not. </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56FC7D9B-51EB-41C5-8C33-F3BE1AE8A166}" type="slidenum">
              <a:rPr lang="en-GB"/>
              <a:t>3</a:t>
            </a:fld>
            <a:endParaRPr lang="en-GB"/>
          </a:p>
        </p:txBody>
      </p:sp>
    </p:spTree>
    <p:extLst>
      <p:ext uri="{BB962C8B-B14F-4D97-AF65-F5344CB8AC3E}">
        <p14:creationId xmlns:p14="http://schemas.microsoft.com/office/powerpoint/2010/main" val="2508674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Multidisciplinary aspect: Acknowledge that different individuals in the group have different strengths. For example, we decided to use feature selection by networking as an innovation method because Member D had strengths in that field. Two members of our group had an extra major in the medical field of science, therefore applied that knowledge to the project. </a:t>
            </a:r>
          </a:p>
        </p:txBody>
      </p:sp>
      <p:sp>
        <p:nvSpPr>
          <p:cNvPr id="4" name="Slide Number Placeholder 3"/>
          <p:cNvSpPr>
            <a:spLocks noGrp="1"/>
          </p:cNvSpPr>
          <p:nvPr>
            <p:ph type="sldNum" sz="quarter" idx="5"/>
          </p:nvPr>
        </p:nvSpPr>
        <p:spPr/>
        <p:txBody>
          <a:bodyPr/>
          <a:lstStyle/>
          <a:p>
            <a:fld id="{56FC7D9B-51EB-41C5-8C33-F3BE1AE8A166}" type="slidenum">
              <a:t>4</a:t>
            </a:fld>
            <a:endParaRPr lang="en-GB"/>
          </a:p>
        </p:txBody>
      </p:sp>
    </p:spTree>
    <p:extLst>
      <p:ext uri="{BB962C8B-B14F-4D97-AF65-F5344CB8AC3E}">
        <p14:creationId xmlns:p14="http://schemas.microsoft.com/office/powerpoint/2010/main" val="2366129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7AD5D-CC4A-8200-C1E4-929DBC087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C34C0-97E5-68E5-553D-A4BD0C0E7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F4C0A1-A69F-B614-4EBC-C4AFF20C86AF}"/>
              </a:ext>
            </a:extLst>
          </p:cNvPr>
          <p:cNvSpPr>
            <a:spLocks noGrp="1"/>
          </p:cNvSpPr>
          <p:nvPr>
            <p:ph type="body" idx="1"/>
          </p:nvPr>
        </p:nvSpPr>
        <p:spPr/>
        <p:txBody>
          <a:bodyPr/>
          <a:lstStyle/>
          <a:p>
            <a:r>
              <a:rPr lang="en-US">
                <a:ea typeface="Calibri"/>
                <a:cs typeface="Calibri"/>
              </a:rPr>
              <a:t>Multidisciplinary aspect: Acknowledge that different individuals in the group have different strengths. For example, we decided to use feature selection by networking as an innovation method because Member D had strengths in that field. Two members of our group had an extra major in the medical field of science, therefore applied that knowledge to the project. </a:t>
            </a:r>
          </a:p>
        </p:txBody>
      </p:sp>
      <p:sp>
        <p:nvSpPr>
          <p:cNvPr id="4" name="Slide Number Placeholder 3">
            <a:extLst>
              <a:ext uri="{FF2B5EF4-FFF2-40B4-BE49-F238E27FC236}">
                <a16:creationId xmlns:a16="http://schemas.microsoft.com/office/drawing/2014/main" id="{C05DCDE6-5F77-0279-C0DE-6580B04B4F99}"/>
              </a:ext>
            </a:extLst>
          </p:cNvPr>
          <p:cNvSpPr>
            <a:spLocks noGrp="1"/>
          </p:cNvSpPr>
          <p:nvPr>
            <p:ph type="sldNum" sz="quarter" idx="5"/>
          </p:nvPr>
        </p:nvSpPr>
        <p:spPr/>
        <p:txBody>
          <a:bodyPr/>
          <a:lstStyle/>
          <a:p>
            <a:fld id="{56FC7D9B-51EB-41C5-8C33-F3BE1AE8A166}" type="slidenum">
              <a:t>5</a:t>
            </a:fld>
            <a:endParaRPr lang="en-GB"/>
          </a:p>
        </p:txBody>
      </p:sp>
    </p:spTree>
    <p:extLst>
      <p:ext uri="{BB962C8B-B14F-4D97-AF65-F5344CB8AC3E}">
        <p14:creationId xmlns:p14="http://schemas.microsoft.com/office/powerpoint/2010/main" val="2672099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3F191-3CC0-363D-8E14-FA520980C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BD1B9-0A1C-B7DA-4ECC-A6027BA3F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451B9-7FAF-965F-BE54-97E16BA9B664}"/>
              </a:ext>
            </a:extLst>
          </p:cNvPr>
          <p:cNvSpPr>
            <a:spLocks noGrp="1"/>
          </p:cNvSpPr>
          <p:nvPr>
            <p:ph type="body" idx="1"/>
          </p:nvPr>
        </p:nvSpPr>
        <p:spPr/>
        <p:txBody>
          <a:bodyPr/>
          <a:lstStyle/>
          <a:p>
            <a:r>
              <a:rPr lang="en-US">
                <a:ea typeface="Calibri"/>
                <a:cs typeface="Calibri"/>
              </a:rPr>
              <a:t>Multidisciplinary aspect: Acknowledge that different individuals in the group have different strengths. For example, we decided to use feature selection by networking as an innovation method because Member D had strengths in that field. Two members of our group had an extra major in the medical field of science, therefore applied that knowledge to the project. </a:t>
            </a:r>
          </a:p>
        </p:txBody>
      </p:sp>
      <p:sp>
        <p:nvSpPr>
          <p:cNvPr id="4" name="Slide Number Placeholder 3">
            <a:extLst>
              <a:ext uri="{FF2B5EF4-FFF2-40B4-BE49-F238E27FC236}">
                <a16:creationId xmlns:a16="http://schemas.microsoft.com/office/drawing/2014/main" id="{2507F6C7-8FF3-B36B-1B57-95CC6C569431}"/>
              </a:ext>
            </a:extLst>
          </p:cNvPr>
          <p:cNvSpPr>
            <a:spLocks noGrp="1"/>
          </p:cNvSpPr>
          <p:nvPr>
            <p:ph type="sldNum" sz="quarter" idx="5"/>
          </p:nvPr>
        </p:nvSpPr>
        <p:spPr/>
        <p:txBody>
          <a:bodyPr/>
          <a:lstStyle/>
          <a:p>
            <a:fld id="{56FC7D9B-51EB-41C5-8C33-F3BE1AE8A166}" type="slidenum">
              <a:t>6</a:t>
            </a:fld>
            <a:endParaRPr lang="en-GB"/>
          </a:p>
        </p:txBody>
      </p:sp>
    </p:spTree>
    <p:extLst>
      <p:ext uri="{BB962C8B-B14F-4D97-AF65-F5344CB8AC3E}">
        <p14:creationId xmlns:p14="http://schemas.microsoft.com/office/powerpoint/2010/main" val="4277045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DAA2A-1B26-5663-3C4E-8A55E0316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6D413-5E98-FFFF-5E7F-60CD552EE9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35B54-022C-DB21-1F23-794FEAAE4B30}"/>
              </a:ext>
            </a:extLst>
          </p:cNvPr>
          <p:cNvSpPr>
            <a:spLocks noGrp="1"/>
          </p:cNvSpPr>
          <p:nvPr>
            <p:ph type="body" idx="1"/>
          </p:nvPr>
        </p:nvSpPr>
        <p:spPr/>
        <p:txBody>
          <a:bodyPr/>
          <a:lstStyle/>
          <a:p>
            <a:r>
              <a:rPr lang="en-US">
                <a:ea typeface="Calibri"/>
                <a:cs typeface="Calibri"/>
              </a:rPr>
              <a:t>Multidisciplinary aspect: Acknowledge that different individuals in the group have different strengths. For example, we decided to use feature selection by networking as an innovation method because Member D had strengths in that field. Two members of our group had an extra major in the medical field of science, therefore applied that knowledge to the project. </a:t>
            </a:r>
          </a:p>
        </p:txBody>
      </p:sp>
      <p:sp>
        <p:nvSpPr>
          <p:cNvPr id="4" name="Slide Number Placeholder 3">
            <a:extLst>
              <a:ext uri="{FF2B5EF4-FFF2-40B4-BE49-F238E27FC236}">
                <a16:creationId xmlns:a16="http://schemas.microsoft.com/office/drawing/2014/main" id="{51786FB6-2C80-517C-0AE7-389781DCC822}"/>
              </a:ext>
            </a:extLst>
          </p:cNvPr>
          <p:cNvSpPr>
            <a:spLocks noGrp="1"/>
          </p:cNvSpPr>
          <p:nvPr>
            <p:ph type="sldNum" sz="quarter" idx="5"/>
          </p:nvPr>
        </p:nvSpPr>
        <p:spPr/>
        <p:txBody>
          <a:bodyPr/>
          <a:lstStyle/>
          <a:p>
            <a:fld id="{56FC7D9B-51EB-41C5-8C33-F3BE1AE8A166}" type="slidenum">
              <a:t>8</a:t>
            </a:fld>
            <a:endParaRPr lang="en-GB"/>
          </a:p>
        </p:txBody>
      </p:sp>
    </p:spTree>
    <p:extLst>
      <p:ext uri="{BB962C8B-B14F-4D97-AF65-F5344CB8AC3E}">
        <p14:creationId xmlns:p14="http://schemas.microsoft.com/office/powerpoint/2010/main" val="1746700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8DE4-2D2E-B17E-8923-E04C009E1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4FD54-8B0E-2E9D-DB96-2C0BFD278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93316-40D4-BF4B-F3DF-FA9D498677B0}"/>
              </a:ext>
            </a:extLst>
          </p:cNvPr>
          <p:cNvSpPr>
            <a:spLocks noGrp="1"/>
          </p:cNvSpPr>
          <p:nvPr>
            <p:ph type="body" idx="1"/>
          </p:nvPr>
        </p:nvSpPr>
        <p:spPr/>
        <p:txBody>
          <a:bodyPr/>
          <a:lstStyle/>
          <a:p>
            <a:r>
              <a:rPr lang="en-US">
                <a:ea typeface="Calibri"/>
                <a:cs typeface="Calibri"/>
              </a:rPr>
              <a:t>Multidisciplinary aspect: Acknowledge that different individuals in the group have different strengths. For example, we decided to use feature selection by networking as an innovation method because Member D had strengths in that field. Two members of our group had an extra major in the medical field of science, therefore applied that knowledge to the project. </a:t>
            </a:r>
          </a:p>
        </p:txBody>
      </p:sp>
      <p:sp>
        <p:nvSpPr>
          <p:cNvPr id="4" name="Slide Number Placeholder 3">
            <a:extLst>
              <a:ext uri="{FF2B5EF4-FFF2-40B4-BE49-F238E27FC236}">
                <a16:creationId xmlns:a16="http://schemas.microsoft.com/office/drawing/2014/main" id="{F315DB3F-E805-AA94-9D72-F1B649AB35BA}"/>
              </a:ext>
            </a:extLst>
          </p:cNvPr>
          <p:cNvSpPr>
            <a:spLocks noGrp="1"/>
          </p:cNvSpPr>
          <p:nvPr>
            <p:ph type="sldNum" sz="quarter" idx="5"/>
          </p:nvPr>
        </p:nvSpPr>
        <p:spPr/>
        <p:txBody>
          <a:bodyPr/>
          <a:lstStyle/>
          <a:p>
            <a:fld id="{56FC7D9B-51EB-41C5-8C33-F3BE1AE8A166}" type="slidenum">
              <a:t>9</a:t>
            </a:fld>
            <a:endParaRPr lang="en-GB"/>
          </a:p>
        </p:txBody>
      </p:sp>
    </p:spTree>
    <p:extLst>
      <p:ext uri="{BB962C8B-B14F-4D97-AF65-F5344CB8AC3E}">
        <p14:creationId xmlns:p14="http://schemas.microsoft.com/office/powerpoint/2010/main" val="1409064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612648" y="557783"/>
            <a:ext cx="10969752" cy="3130807"/>
          </a:xfrm>
        </p:spPr>
        <p:txBody>
          <a:bodyPr anchor="b">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612648" y="3902206"/>
            <a:ext cx="10969752" cy="2240529"/>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79C5A860-F335-4252-AA00-24FB67ED2982}" type="datetime1">
              <a:rPr lang="en-US" smtClean="0"/>
              <a:t>5/25/2025</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2111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D04BC802-30E3-4658-9CCA-F873646FEC67}" type="datetime1">
              <a:rPr lang="en-US" smtClean="0"/>
              <a:t>5/25/2025</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563770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612648" y="557784"/>
            <a:ext cx="10969752" cy="3146400"/>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612648" y="3902207"/>
            <a:ext cx="10969752" cy="2187443"/>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AB227A3-19CE-4153-81CE-64EB7AB094B3}" type="datetime1">
              <a:rPr lang="en-US" smtClean="0"/>
              <a:t>5/25/2025</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57885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609600"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2" y="2081369"/>
            <a:ext cx="5410200" cy="409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B819A100-10F6-477E-8847-29D479EF1C92}" type="datetime1">
              <a:rPr lang="en-US" smtClean="0"/>
              <a:t>5/25/2025</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96138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609600" y="365125"/>
            <a:ext cx="1074578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609600" y="1895096"/>
            <a:ext cx="5387975"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609600" y="2842211"/>
            <a:ext cx="5387975"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67890" y="1895096"/>
            <a:ext cx="541451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67890" y="2842211"/>
            <a:ext cx="5414510" cy="33474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5DF128AB-198A-495F-8475-FDB360C9873F}" type="datetime1">
              <a:rPr lang="en-US" smtClean="0"/>
              <a:t>5/25/2025</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0738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21A235E-F8FD-479F-9FC7-18BE84110877}" type="datetime1">
              <a:rPr lang="en-US" smtClean="0"/>
              <a:t>5/25/2025</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354322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E890F09B-68DA-462E-9DB4-4C9ADAB8CBCC}" type="datetime1">
              <a:rPr lang="en-US" smtClean="0"/>
              <a:t>5/25/2025</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27775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612649" y="457199"/>
            <a:ext cx="4970822" cy="2660205"/>
          </a:xfrm>
        </p:spPr>
        <p:txBody>
          <a:bodyPr anchor="b">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6096000" y="457200"/>
            <a:ext cx="5483352" cy="574400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612649" y="3329989"/>
            <a:ext cx="4970822" cy="287121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17AC4E36-FABE-47EB-AA7F-C19A93824617}" type="datetime1">
              <a:rPr lang="en-US" smtClean="0"/>
              <a:t>5/25/2025</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1287983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612649" y="457199"/>
            <a:ext cx="4970822" cy="2667485"/>
          </a:xfrm>
        </p:spPr>
        <p:txBody>
          <a:bodyPr anchor="b">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6096000" y="457199"/>
            <a:ext cx="5483352" cy="54038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612649" y="3322708"/>
            <a:ext cx="4970822" cy="254628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F199CE6B-5DE6-4A2D-B72E-5E8969F9F56F}" type="datetime1">
              <a:rPr lang="en-US" smtClean="0"/>
              <a:t>5/25/2025</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783514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46AB1048-0047-48CA-88BA-D69B470942CF}" type="datetime1">
              <a:rPr lang="en-US" smtClean="0"/>
              <a:t>5/25/2025</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034843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557784"/>
            <a:ext cx="2854452" cy="564342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612648" y="557784"/>
            <a:ext cx="7734300" cy="56434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5BD83879-648C-49A9-81A2-0EF5946532D0}" type="datetime1">
              <a:rPr lang="en-US" smtClean="0"/>
              <a:t>5/25/2025</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35901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2E603F-28B7-4831-BF23-65FBAB13D5FB}"/>
              </a:ext>
            </a:extLst>
          </p:cNvPr>
          <p:cNvSpPr/>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D39700F-2B10-4402-A7DD-06EE2245880D}"/>
              </a:ext>
              <a:ext uri="{C183D7F6-B498-43B3-948B-1728B52AA6E4}">
                <adec:decorative xmlns:adec="http://schemas.microsoft.com/office/drawing/2017/decorative" val="1"/>
              </a:ext>
            </a:extLst>
          </p:cNvPr>
          <p:cNvSpPr/>
          <p:nvPr/>
        </p:nvSpPr>
        <p:spPr>
          <a:xfrm>
            <a:off x="-1" y="232968"/>
            <a:ext cx="9560477" cy="6625032"/>
          </a:xfrm>
          <a:custGeom>
            <a:avLst/>
            <a:gdLst>
              <a:gd name="connsiteX0" fmla="*/ 8831314 w 9263816"/>
              <a:gd name="connsiteY0" fmla="*/ 5943878 h 6858000"/>
              <a:gd name="connsiteX1" fmla="*/ 9179783 w 9263816"/>
              <a:gd name="connsiteY1" fmla="*/ 6086141 h 6858000"/>
              <a:gd name="connsiteX2" fmla="*/ 9260887 w 9263816"/>
              <a:gd name="connsiteY2" fmla="*/ 6279156 h 6858000"/>
              <a:gd name="connsiteX3" fmla="*/ 8925621 w 9263816"/>
              <a:gd name="connsiteY3" fmla="*/ 6708712 h 6858000"/>
              <a:gd name="connsiteX4" fmla="*/ 8496050 w 9263816"/>
              <a:gd name="connsiteY4" fmla="*/ 6373449 h 6858000"/>
              <a:gd name="connsiteX5" fmla="*/ 8831314 w 9263816"/>
              <a:gd name="connsiteY5" fmla="*/ 5943878 h 6858000"/>
              <a:gd name="connsiteX6" fmla="*/ 7397485 w 9263816"/>
              <a:gd name="connsiteY6" fmla="*/ 5931706 h 6858000"/>
              <a:gd name="connsiteX7" fmla="*/ 7917779 w 9263816"/>
              <a:gd name="connsiteY7" fmla="*/ 6191864 h 6858000"/>
              <a:gd name="connsiteX8" fmla="*/ 8013467 w 9263816"/>
              <a:gd name="connsiteY8" fmla="*/ 6375784 h 6858000"/>
              <a:gd name="connsiteX9" fmla="*/ 8021879 w 9263816"/>
              <a:gd name="connsiteY9" fmla="*/ 6753751 h 6858000"/>
              <a:gd name="connsiteX10" fmla="*/ 7981316 w 9263816"/>
              <a:gd name="connsiteY10" fmla="*/ 6858000 h 6858000"/>
              <a:gd name="connsiteX11" fmla="*/ 6819486 w 9263816"/>
              <a:gd name="connsiteY11" fmla="*/ 6858000 h 6858000"/>
              <a:gd name="connsiteX12" fmla="*/ 6785199 w 9263816"/>
              <a:gd name="connsiteY12" fmla="*/ 6781101 h 6858000"/>
              <a:gd name="connsiteX13" fmla="*/ 7196747 w 9263816"/>
              <a:gd name="connsiteY13" fmla="*/ 5964309 h 6858000"/>
              <a:gd name="connsiteX14" fmla="*/ 7397485 w 9263816"/>
              <a:gd name="connsiteY14" fmla="*/ 5931706 h 6858000"/>
              <a:gd name="connsiteX15" fmla="*/ 1505570 w 9263816"/>
              <a:gd name="connsiteY15" fmla="*/ 227178 h 6858000"/>
              <a:gd name="connsiteX16" fmla="*/ 2026489 w 9263816"/>
              <a:gd name="connsiteY16" fmla="*/ 392370 h 6858000"/>
              <a:gd name="connsiteX17" fmla="*/ 2444553 w 9263816"/>
              <a:gd name="connsiteY17" fmla="*/ 1654853 h 6858000"/>
              <a:gd name="connsiteX18" fmla="*/ 3183153 w 9263816"/>
              <a:gd name="connsiteY18" fmla="*/ 2116208 h 6858000"/>
              <a:gd name="connsiteX19" fmla="*/ 4288384 w 9263816"/>
              <a:gd name="connsiteY19" fmla="*/ 1291908 h 6858000"/>
              <a:gd name="connsiteX20" fmla="*/ 5472602 w 9263816"/>
              <a:gd name="connsiteY20" fmla="*/ 1697818 h 6858000"/>
              <a:gd name="connsiteX21" fmla="*/ 5844697 w 9263816"/>
              <a:gd name="connsiteY21" fmla="*/ 3444791 h 6858000"/>
              <a:gd name="connsiteX22" fmla="*/ 6715674 w 9263816"/>
              <a:gd name="connsiteY22" fmla="*/ 4065208 h 6858000"/>
              <a:gd name="connsiteX23" fmla="*/ 8130429 w 9263816"/>
              <a:gd name="connsiteY23" fmla="*/ 4101787 h 6858000"/>
              <a:gd name="connsiteX24" fmla="*/ 8624630 w 9263816"/>
              <a:gd name="connsiteY24" fmla="*/ 4686202 h 6858000"/>
              <a:gd name="connsiteX25" fmla="*/ 8623843 w 9263816"/>
              <a:gd name="connsiteY25" fmla="*/ 4685749 h 6858000"/>
              <a:gd name="connsiteX26" fmla="*/ 8646859 w 9263816"/>
              <a:gd name="connsiteY26" fmla="*/ 4835156 h 6858000"/>
              <a:gd name="connsiteX27" fmla="*/ 8079403 w 9263816"/>
              <a:gd name="connsiteY27" fmla="*/ 5661624 h 6858000"/>
              <a:gd name="connsiteX28" fmla="*/ 6833105 w 9263816"/>
              <a:gd name="connsiteY28" fmla="*/ 5397208 h 6858000"/>
              <a:gd name="connsiteX29" fmla="*/ 5900832 w 9263816"/>
              <a:gd name="connsiteY29" fmla="*/ 5944462 h 6858000"/>
              <a:gd name="connsiteX30" fmla="*/ 6067212 w 9263816"/>
              <a:gd name="connsiteY30" fmla="*/ 6811916 h 6858000"/>
              <a:gd name="connsiteX31" fmla="*/ 6089565 w 9263816"/>
              <a:gd name="connsiteY31" fmla="*/ 6858000 h 6858000"/>
              <a:gd name="connsiteX32" fmla="*/ 0 w 9263816"/>
              <a:gd name="connsiteY32" fmla="*/ 6858000 h 6858000"/>
              <a:gd name="connsiteX33" fmla="*/ 0 w 9263816"/>
              <a:gd name="connsiteY33" fmla="*/ 2181377 h 6858000"/>
              <a:gd name="connsiteX34" fmla="*/ 73069 w 9263816"/>
              <a:gd name="connsiteY34" fmla="*/ 2215839 h 6858000"/>
              <a:gd name="connsiteX35" fmla="*/ 335445 w 9263816"/>
              <a:gd name="connsiteY35" fmla="*/ 2237140 h 6858000"/>
              <a:gd name="connsiteX36" fmla="*/ 752878 w 9263816"/>
              <a:gd name="connsiteY36" fmla="*/ 1445285 h 6858000"/>
              <a:gd name="connsiteX37" fmla="*/ 1202551 w 9263816"/>
              <a:gd name="connsiteY37" fmla="*/ 314229 h 6858000"/>
              <a:gd name="connsiteX38" fmla="*/ 1505570 w 9263816"/>
              <a:gd name="connsiteY38" fmla="*/ 227178 h 6858000"/>
              <a:gd name="connsiteX39" fmla="*/ 3142509 w 9263816"/>
              <a:gd name="connsiteY39" fmla="*/ 68854 h 6858000"/>
              <a:gd name="connsiteX40" fmla="*/ 3490978 w 9263816"/>
              <a:gd name="connsiteY40" fmla="*/ 211117 h 6858000"/>
              <a:gd name="connsiteX41" fmla="*/ 3572083 w 9263816"/>
              <a:gd name="connsiteY41" fmla="*/ 404131 h 6858000"/>
              <a:gd name="connsiteX42" fmla="*/ 3236814 w 9263816"/>
              <a:gd name="connsiteY42" fmla="*/ 833688 h 6858000"/>
              <a:gd name="connsiteX43" fmla="*/ 2807245 w 9263816"/>
              <a:gd name="connsiteY43" fmla="*/ 498425 h 6858000"/>
              <a:gd name="connsiteX44" fmla="*/ 3142509 w 9263816"/>
              <a:gd name="connsiteY44" fmla="*/ 68854 h 6858000"/>
              <a:gd name="connsiteX45" fmla="*/ 0 w 9263816"/>
              <a:gd name="connsiteY45" fmla="*/ 0 h 6858000"/>
              <a:gd name="connsiteX46" fmla="*/ 39858 w 9263816"/>
              <a:gd name="connsiteY46" fmla="*/ 0 h 6858000"/>
              <a:gd name="connsiteX47" fmla="*/ 65022 w 9263816"/>
              <a:gd name="connsiteY47" fmla="*/ 5834 h 6858000"/>
              <a:gd name="connsiteX48" fmla="*/ 389258 w 9263816"/>
              <a:gd name="connsiteY48" fmla="*/ 235630 h 6858000"/>
              <a:gd name="connsiteX49" fmla="*/ 485484 w 9263816"/>
              <a:gd name="connsiteY49" fmla="*/ 420070 h 6858000"/>
              <a:gd name="connsiteX50" fmla="*/ 74229 w 9263816"/>
              <a:gd name="connsiteY50" fmla="*/ 1237955 h 6858000"/>
              <a:gd name="connsiteX51" fmla="*/ 0 w 9263816"/>
              <a:gd name="connsiteY51" fmla="*/ 125447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63816" h="6858000">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609600" y="557784"/>
            <a:ext cx="109728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609600" y="2106204"/>
            <a:ext cx="10972800" cy="40365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609600" y="6356350"/>
            <a:ext cx="2743200" cy="365125"/>
          </a:xfrm>
          <a:prstGeom prst="rect">
            <a:avLst/>
          </a:prstGeom>
        </p:spPr>
        <p:txBody>
          <a:bodyPr vert="horz" lIns="91440" tIns="45720" rIns="91440" bIns="45720" rtlCol="0" anchor="ctr"/>
          <a:lstStyle>
            <a:lvl1pPr algn="l">
              <a:defRPr lang="en-US" sz="800" kern="1200" cap="all" spc="200" smtClean="0">
                <a:solidFill>
                  <a:schemeClr val="tx1"/>
                </a:solidFill>
                <a:latin typeface="+mn-lt"/>
                <a:ea typeface="+mn-ea"/>
                <a:cs typeface="Segoe UI Semilight" panose="020B0402040204020203" pitchFamily="34" charset="0"/>
              </a:defRPr>
            </a:lvl1pPr>
          </a:lstStyle>
          <a:p>
            <a:fld id="{F481A142-DA77-4A5F-AD1F-14E6C18F0F5F}" type="datetime1">
              <a:rPr lang="en-US" smtClean="0"/>
              <a:t>5/25/2025</a:t>
            </a:fld>
            <a:endParaRPr lang="en-US"/>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800" kern="1200" cap="all" spc="200" dirty="0">
                <a:solidFill>
                  <a:schemeClr val="tx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10134600" y="6356350"/>
            <a:ext cx="1447800" cy="365125"/>
          </a:xfrm>
          <a:prstGeom prst="rect">
            <a:avLst/>
          </a:prstGeom>
        </p:spPr>
        <p:txBody>
          <a:bodyPr vert="horz" lIns="91440" tIns="45720" rIns="91440" bIns="45720" rtlCol="0" anchor="ctr"/>
          <a:lstStyle>
            <a:lvl1pPr algn="r">
              <a:defRPr lang="en-US" sz="800" kern="1200" cap="all" spc="200" smtClean="0">
                <a:solidFill>
                  <a:schemeClr val="tx1"/>
                </a:solidFill>
                <a:latin typeface="+mn-lt"/>
                <a:ea typeface="+mn-ea"/>
                <a:cs typeface="Segoe UI Semilight" panose="020B0402040204020203" pitchFamily="34" charset="0"/>
              </a:defRPr>
            </a:lvl1pPr>
          </a:lstStyle>
          <a:p>
            <a:fld id="{1F646F3F-274D-499B-ABBE-824EB4ABDC3D}" type="slidenum">
              <a:rPr lang="en-US" smtClean="0"/>
              <a:pPr/>
              <a:t>‹#›</a:t>
            </a:fld>
            <a:endParaRPr lang="en-US"/>
          </a:p>
        </p:txBody>
      </p:sp>
    </p:spTree>
    <p:extLst>
      <p:ext uri="{BB962C8B-B14F-4D97-AF65-F5344CB8AC3E}">
        <p14:creationId xmlns:p14="http://schemas.microsoft.com/office/powerpoint/2010/main" val="103584153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11" r:id="rId6"/>
    <p:sldLayoutId id="2147483706" r:id="rId7"/>
    <p:sldLayoutId id="2147483707" r:id="rId8"/>
    <p:sldLayoutId id="2147483708" r:id="rId9"/>
    <p:sldLayoutId id="2147483710" r:id="rId10"/>
    <p:sldLayoutId id="2147483709" r:id="rId11"/>
  </p:sldLayoutIdLst>
  <p:hf sldNum="0" hdr="0" ftr="0" dt="0"/>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4.sv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svg"/><Relationship Id="rId2" Type="http://schemas.openxmlformats.org/officeDocument/2006/relationships/image" Target="../media/image28.png"/><Relationship Id="rId16" Type="http://schemas.openxmlformats.org/officeDocument/2006/relationships/image" Target="../media/image42.svg"/><Relationship Id="rId1" Type="http://schemas.openxmlformats.org/officeDocument/2006/relationships/slideLayout" Target="../slideLayouts/slideLayout5.xml"/><Relationship Id="rId6" Type="http://schemas.openxmlformats.org/officeDocument/2006/relationships/image" Target="../media/image32.sv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41.png"/><Relationship Id="rId10" Type="http://schemas.openxmlformats.org/officeDocument/2006/relationships/image" Target="../media/image36.svg"/><Relationship Id="rId4" Type="http://schemas.openxmlformats.org/officeDocument/2006/relationships/image" Target="../media/image30.svg"/><Relationship Id="rId9" Type="http://schemas.openxmlformats.org/officeDocument/2006/relationships/image" Target="../media/image35.png"/><Relationship Id="rId14" Type="http://schemas.openxmlformats.org/officeDocument/2006/relationships/image" Target="../media/image40.svg"/></Relationships>
</file>

<file path=ppt/slides/_rels/slide1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sv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5.xml"/><Relationship Id="rId6" Type="http://schemas.openxmlformats.org/officeDocument/2006/relationships/image" Target="../media/image47.jpeg"/><Relationship Id="rId5" Type="http://schemas.openxmlformats.org/officeDocument/2006/relationships/image" Target="../media/image46.svg"/><Relationship Id="rId10" Type="http://schemas.openxmlformats.org/officeDocument/2006/relationships/image" Target="../media/image51.svg"/><Relationship Id="rId4" Type="http://schemas.openxmlformats.org/officeDocument/2006/relationships/image" Target="../media/image45.png"/><Relationship Id="rId9"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m/url?sa=i&amp;url=https%3A%2F%2Fwww.altaira.com.au%2Fwho-releases-first-guideline-on-digital-health-interventions%2F&amp;psig=AOvVaw1ZO_83xkKv2R26lJmZJtou&amp;ust=1748137731236000&amp;source=images&amp;cd=vfe&amp;opi=89978449&amp;ved=0CBQQjRxqFwoTCPj__NX-uo0DFQAAAAAdAAAAABAK" TargetMode="External"/><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90/fi17040177" TargetMode="External"/><Relationship Id="rId2" Type="http://schemas.openxmlformats.org/officeDocument/2006/relationships/hyperlink" Target="https://doi.org/10.1097/MOT.0000000000001164" TargetMode="External"/><Relationship Id="rId1" Type="http://schemas.openxmlformats.org/officeDocument/2006/relationships/slideLayout" Target="../slideLayouts/slideLayout2.xml"/><Relationship Id="rId6" Type="http://schemas.openxmlformats.org/officeDocument/2006/relationships/hyperlink" Target="https://doi.org/10.1016/j.jtbi.2014.03.006" TargetMode="External"/><Relationship Id="rId5" Type="http://schemas.openxmlformats.org/officeDocument/2006/relationships/hyperlink" Target="https://www.ncbi.nlm.nih.gov/books/NBK553074/" TargetMode="External"/><Relationship Id="rId4" Type="http://schemas.openxmlformats.org/officeDocument/2006/relationships/hyperlink" Target="https://doi.org/10.1097/TP.000000000000429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E15305-164C-44CD-9E0F-420C2DC1B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1" name="Rectangle 10">
            <a:extLst>
              <a:ext uri="{FF2B5EF4-FFF2-40B4-BE49-F238E27FC236}">
                <a16:creationId xmlns:a16="http://schemas.microsoft.com/office/drawing/2014/main" id="{1D983374-3839-4F06-972D-B4C3CF238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AEAEAE">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1C064C2-C4B3-3D50-276A-A1F8999D7532}"/>
              </a:ext>
            </a:extLst>
          </p:cNvPr>
          <p:cNvPicPr>
            <a:picLocks noChangeAspect="1"/>
          </p:cNvPicPr>
          <p:nvPr/>
        </p:nvPicPr>
        <p:blipFill>
          <a:blip r:embed="rId3"/>
          <a:srcRect l="17915" r="24443"/>
          <a:stretch/>
        </p:blipFill>
        <p:spPr>
          <a:xfrm>
            <a:off x="4285860" y="10"/>
            <a:ext cx="7906139" cy="6857989"/>
          </a:xfrm>
          <a:prstGeom prst="rect">
            <a:avLst/>
          </a:prstGeom>
        </p:spPr>
      </p:pic>
      <p:sp useBgFill="1">
        <p:nvSpPr>
          <p:cNvPr id="13" name="Freeform: Shape 12">
            <a:extLst>
              <a:ext uri="{FF2B5EF4-FFF2-40B4-BE49-F238E27FC236}">
                <a16:creationId xmlns:a16="http://schemas.microsoft.com/office/drawing/2014/main" id="{F1D5403D-09EC-41DB-B916-A09C0E5AE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592970" cy="6858000"/>
          </a:xfrm>
          <a:custGeom>
            <a:avLst/>
            <a:gdLst>
              <a:gd name="connsiteX0" fmla="*/ 4912746 w 5592970"/>
              <a:gd name="connsiteY0" fmla="*/ 2355321 h 6897159"/>
              <a:gd name="connsiteX1" fmla="*/ 4714738 w 5592970"/>
              <a:gd name="connsiteY1" fmla="*/ 2553329 h 6897159"/>
              <a:gd name="connsiteX2" fmla="*/ 4912746 w 5592970"/>
              <a:gd name="connsiteY2" fmla="*/ 2751337 h 6897159"/>
              <a:gd name="connsiteX3" fmla="*/ 5110754 w 5592970"/>
              <a:gd name="connsiteY3" fmla="*/ 2553329 h 6897159"/>
              <a:gd name="connsiteX4" fmla="*/ 4912746 w 5592970"/>
              <a:gd name="connsiteY4" fmla="*/ 2355321 h 6897159"/>
              <a:gd name="connsiteX5" fmla="*/ 4769785 w 5592970"/>
              <a:gd name="connsiteY5" fmla="*/ 1301525 h 6897159"/>
              <a:gd name="connsiteX6" fmla="*/ 4358192 w 5592970"/>
              <a:gd name="connsiteY6" fmla="*/ 1713118 h 6897159"/>
              <a:gd name="connsiteX7" fmla="*/ 4769785 w 5592970"/>
              <a:gd name="connsiteY7" fmla="*/ 2124711 h 6897159"/>
              <a:gd name="connsiteX8" fmla="*/ 5181378 w 5592970"/>
              <a:gd name="connsiteY8" fmla="*/ 1713118 h 6897159"/>
              <a:gd name="connsiteX9" fmla="*/ 4769785 w 5592970"/>
              <a:gd name="connsiteY9" fmla="*/ 1301525 h 6897159"/>
              <a:gd name="connsiteX10" fmla="*/ 1485712 w 5592970"/>
              <a:gd name="connsiteY10" fmla="*/ 0 h 6897159"/>
              <a:gd name="connsiteX11" fmla="*/ 1911850 w 5592970"/>
              <a:gd name="connsiteY11" fmla="*/ 0 h 6897159"/>
              <a:gd name="connsiteX12" fmla="*/ 4693359 w 5592970"/>
              <a:gd name="connsiteY12" fmla="*/ 0 h 6897159"/>
              <a:gd name="connsiteX13" fmla="*/ 4687196 w 5592970"/>
              <a:gd name="connsiteY13" fmla="*/ 186052 h 6897159"/>
              <a:gd name="connsiteX14" fmla="*/ 4689492 w 5592970"/>
              <a:gd name="connsiteY14" fmla="*/ 422393 h 6897159"/>
              <a:gd name="connsiteX15" fmla="*/ 5029277 w 5592970"/>
              <a:gd name="connsiteY15" fmla="*/ 1074198 h 6897159"/>
              <a:gd name="connsiteX16" fmla="*/ 5368989 w 5592970"/>
              <a:gd name="connsiteY16" fmla="*/ 2604190 h 6897159"/>
              <a:gd name="connsiteX17" fmla="*/ 5030698 w 5592970"/>
              <a:gd name="connsiteY17" fmla="*/ 3182337 h 6897159"/>
              <a:gd name="connsiteX18" fmla="*/ 4910556 w 5592970"/>
              <a:gd name="connsiteY18" fmla="*/ 4667756 h 6897159"/>
              <a:gd name="connsiteX19" fmla="*/ 5374561 w 5592970"/>
              <a:gd name="connsiteY19" fmla="*/ 5703238 h 6897159"/>
              <a:gd name="connsiteX20" fmla="*/ 5591170 w 5592970"/>
              <a:gd name="connsiteY20" fmla="*/ 6745970 h 6897159"/>
              <a:gd name="connsiteX21" fmla="*/ 5592970 w 5592970"/>
              <a:gd name="connsiteY21" fmla="*/ 6897158 h 6897159"/>
              <a:gd name="connsiteX22" fmla="*/ 2734191 w 5592970"/>
              <a:gd name="connsiteY22" fmla="*/ 6897158 h 6897159"/>
              <a:gd name="connsiteX23" fmla="*/ 2734191 w 5592970"/>
              <a:gd name="connsiteY23" fmla="*/ 6897159 h 6897159"/>
              <a:gd name="connsiteX24" fmla="*/ 0 w 5592970"/>
              <a:gd name="connsiteY24" fmla="*/ 6897159 h 6897159"/>
              <a:gd name="connsiteX25" fmla="*/ 0 w 5592970"/>
              <a:gd name="connsiteY25" fmla="*/ 1 h 6897159"/>
              <a:gd name="connsiteX26" fmla="*/ 1485712 w 5592970"/>
              <a:gd name="connsiteY26" fmla="*/ 1 h 6897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592970" h="6897159">
                <a:moveTo>
                  <a:pt x="4912746" y="2355321"/>
                </a:moveTo>
                <a:cubicBezTo>
                  <a:pt x="4803389" y="2355321"/>
                  <a:pt x="4714738" y="2443972"/>
                  <a:pt x="4714738" y="2553329"/>
                </a:cubicBezTo>
                <a:cubicBezTo>
                  <a:pt x="4714738" y="2662686"/>
                  <a:pt x="4803389" y="2751337"/>
                  <a:pt x="4912746" y="2751337"/>
                </a:cubicBezTo>
                <a:cubicBezTo>
                  <a:pt x="5022103" y="2751337"/>
                  <a:pt x="5110754" y="2662686"/>
                  <a:pt x="5110754" y="2553329"/>
                </a:cubicBezTo>
                <a:cubicBezTo>
                  <a:pt x="5110754" y="2443972"/>
                  <a:pt x="5022103" y="2355321"/>
                  <a:pt x="4912746" y="2355321"/>
                </a:cubicBezTo>
                <a:close/>
                <a:moveTo>
                  <a:pt x="4769785" y="1301525"/>
                </a:moveTo>
                <a:cubicBezTo>
                  <a:pt x="4542468" y="1301525"/>
                  <a:pt x="4358192" y="1485801"/>
                  <a:pt x="4358192" y="1713118"/>
                </a:cubicBezTo>
                <a:cubicBezTo>
                  <a:pt x="4358192" y="1940435"/>
                  <a:pt x="4542468" y="2124711"/>
                  <a:pt x="4769785" y="2124711"/>
                </a:cubicBezTo>
                <a:cubicBezTo>
                  <a:pt x="4997102" y="2124711"/>
                  <a:pt x="5181378" y="1940435"/>
                  <a:pt x="5181378" y="1713118"/>
                </a:cubicBezTo>
                <a:cubicBezTo>
                  <a:pt x="5181378" y="1485801"/>
                  <a:pt x="4997102" y="1301525"/>
                  <a:pt x="4769785" y="1301525"/>
                </a:cubicBezTo>
                <a:close/>
                <a:moveTo>
                  <a:pt x="1485712" y="0"/>
                </a:moveTo>
                <a:lnTo>
                  <a:pt x="1911850" y="0"/>
                </a:lnTo>
                <a:lnTo>
                  <a:pt x="4693359" y="0"/>
                </a:lnTo>
                <a:lnTo>
                  <a:pt x="4687196" y="186052"/>
                </a:lnTo>
                <a:cubicBezTo>
                  <a:pt x="4686166" y="265025"/>
                  <a:pt x="4686829" y="343862"/>
                  <a:pt x="4689492" y="422393"/>
                </a:cubicBezTo>
                <a:cubicBezTo>
                  <a:pt x="4699496" y="713539"/>
                  <a:pt x="4872938" y="896626"/>
                  <a:pt x="5029277" y="1074198"/>
                </a:cubicBezTo>
                <a:cubicBezTo>
                  <a:pt x="5418992" y="1516672"/>
                  <a:pt x="5551614" y="2043761"/>
                  <a:pt x="5368989" y="2604190"/>
                </a:cubicBezTo>
                <a:cubicBezTo>
                  <a:pt x="5298163" y="2821542"/>
                  <a:pt x="5160452" y="3010355"/>
                  <a:pt x="5030698" y="3182337"/>
                </a:cubicBezTo>
                <a:cubicBezTo>
                  <a:pt x="4682698" y="3643429"/>
                  <a:pt x="4696957" y="4178177"/>
                  <a:pt x="4910556" y="4667756"/>
                </a:cubicBezTo>
                <a:cubicBezTo>
                  <a:pt x="5062728" y="5015306"/>
                  <a:pt x="5245193" y="5341884"/>
                  <a:pt x="5374561" y="5703238"/>
                </a:cubicBezTo>
                <a:cubicBezTo>
                  <a:pt x="5500512" y="6053410"/>
                  <a:pt x="5575240" y="6402760"/>
                  <a:pt x="5591170" y="6745970"/>
                </a:cubicBezTo>
                <a:lnTo>
                  <a:pt x="5592970" y="6897158"/>
                </a:lnTo>
                <a:lnTo>
                  <a:pt x="2734191" y="6897158"/>
                </a:lnTo>
                <a:lnTo>
                  <a:pt x="2734191" y="6897159"/>
                </a:lnTo>
                <a:lnTo>
                  <a:pt x="0" y="6897159"/>
                </a:lnTo>
                <a:lnTo>
                  <a:pt x="0" y="1"/>
                </a:lnTo>
                <a:lnTo>
                  <a:pt x="1485712" y="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323B1BA-443B-F97B-E4F0-FB591481AE1E}"/>
              </a:ext>
            </a:extLst>
          </p:cNvPr>
          <p:cNvSpPr>
            <a:spLocks noGrp="1"/>
          </p:cNvSpPr>
          <p:nvPr>
            <p:ph type="ctrTitle"/>
          </p:nvPr>
        </p:nvSpPr>
        <p:spPr>
          <a:xfrm>
            <a:off x="690613" y="1714085"/>
            <a:ext cx="3596993" cy="3543281"/>
          </a:xfrm>
        </p:spPr>
        <p:txBody>
          <a:bodyPr>
            <a:normAutofit fontScale="90000"/>
          </a:bodyPr>
          <a:lstStyle/>
          <a:p>
            <a:r>
              <a:rPr lang="en-US"/>
              <a:t>Predicting Kidney Allograft Outcomes for Clinicians</a:t>
            </a:r>
            <a:endParaRPr lang="en-US">
              <a:cs typeface="Posterama"/>
            </a:endParaRPr>
          </a:p>
        </p:txBody>
      </p:sp>
      <p:sp>
        <p:nvSpPr>
          <p:cNvPr id="3" name="Subtitle 2">
            <a:extLst>
              <a:ext uri="{FF2B5EF4-FFF2-40B4-BE49-F238E27FC236}">
                <a16:creationId xmlns:a16="http://schemas.microsoft.com/office/drawing/2014/main" id="{030D2FB1-F155-69E6-6C11-20E9C33A7F16}"/>
              </a:ext>
            </a:extLst>
          </p:cNvPr>
          <p:cNvSpPr>
            <a:spLocks noGrp="1"/>
          </p:cNvSpPr>
          <p:nvPr>
            <p:ph type="subTitle" idx="1"/>
          </p:nvPr>
        </p:nvSpPr>
        <p:spPr>
          <a:xfrm>
            <a:off x="6103" y="6450131"/>
            <a:ext cx="8646390" cy="408349"/>
          </a:xfrm>
        </p:spPr>
        <p:txBody>
          <a:bodyPr vert="horz" lIns="91440" tIns="45720" rIns="91440" bIns="45720" rtlCol="0" anchor="t">
            <a:normAutofit/>
          </a:bodyPr>
          <a:lstStyle/>
          <a:p>
            <a:r>
              <a:rPr lang="en-US"/>
              <a:t>Biomed Group 22: Members A-E and Yuanfeng</a:t>
            </a:r>
          </a:p>
        </p:txBody>
      </p:sp>
      <p:sp>
        <p:nvSpPr>
          <p:cNvPr id="5" name="Title 1">
            <a:extLst>
              <a:ext uri="{FF2B5EF4-FFF2-40B4-BE49-F238E27FC236}">
                <a16:creationId xmlns:a16="http://schemas.microsoft.com/office/drawing/2014/main" id="{FFBA8414-BE0F-A3AE-A907-E2688F6F8FFE}"/>
              </a:ext>
            </a:extLst>
          </p:cNvPr>
          <p:cNvSpPr txBox="1">
            <a:spLocks/>
          </p:cNvSpPr>
          <p:nvPr/>
        </p:nvSpPr>
        <p:spPr>
          <a:xfrm>
            <a:off x="690611" y="5193078"/>
            <a:ext cx="3541909" cy="469899"/>
          </a:xfrm>
          <a:prstGeom prst="rect">
            <a:avLst/>
          </a:prstGeom>
        </p:spPr>
        <p:txBody>
          <a:bodyPr vert="horz" lIns="91440" tIns="45720" rIns="91440" bIns="45720" rtlCol="0" anchor="b">
            <a:normAutofit fontScale="97500"/>
          </a:bodyPr>
          <a:lst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a:lstStyle>
          <a:p>
            <a:r>
              <a:rPr lang="en-US" sz="2400"/>
              <a:t>Blood and Biopsy</a:t>
            </a:r>
          </a:p>
        </p:txBody>
      </p:sp>
    </p:spTree>
    <p:extLst>
      <p:ext uri="{BB962C8B-B14F-4D97-AF65-F5344CB8AC3E}">
        <p14:creationId xmlns:p14="http://schemas.microsoft.com/office/powerpoint/2010/main" val="1476558177"/>
      </p:ext>
    </p:extLst>
  </p:cSld>
  <p:clrMapOvr>
    <a:masterClrMapping/>
  </p:clrMapOvr>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BA0AC-C6D9-61C0-421C-17118C195FE4}"/>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FBAA4296-2D7B-CEC0-9C0A-BCCB04E3BAED}"/>
              </a:ext>
            </a:extLst>
          </p:cNvPr>
          <p:cNvSpPr/>
          <p:nvPr/>
        </p:nvSpPr>
        <p:spPr>
          <a:xfrm>
            <a:off x="6349964" y="1721472"/>
            <a:ext cx="5522428" cy="4225494"/>
          </a:xfrm>
          <a:prstGeom prst="roundRect">
            <a:avLst/>
          </a:prstGeom>
          <a:noFill/>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C3973D8-B730-3FCD-AE65-D5BE4464824E}"/>
              </a:ext>
            </a:extLst>
          </p:cNvPr>
          <p:cNvSpPr>
            <a:spLocks noGrp="1"/>
          </p:cNvSpPr>
          <p:nvPr>
            <p:ph idx="1"/>
          </p:nvPr>
        </p:nvSpPr>
        <p:spPr>
          <a:xfrm>
            <a:off x="609599" y="2432162"/>
            <a:ext cx="5480649" cy="3232691"/>
          </a:xfrm>
        </p:spPr>
        <p:txBody>
          <a:bodyPr vert="horz" lIns="91440" tIns="45720" rIns="91440" bIns="45720" rtlCol="0" anchor="t">
            <a:noAutofit/>
          </a:bodyPr>
          <a:lstStyle/>
          <a:p>
            <a:pPr algn="ctr"/>
            <a:r>
              <a:rPr lang="en-AU" sz="3200">
                <a:solidFill>
                  <a:schemeClr val="accent1">
                    <a:lumMod val="76000"/>
                  </a:schemeClr>
                </a:solidFill>
                <a:latin typeface="ADLaM Display"/>
                <a:ea typeface="Open Sans"/>
                <a:cs typeface="Open Sans"/>
              </a:rPr>
              <a:t>"25% of patients receiving an organ transplant will experience rejection in the first-year post-transplant"  (Higdon et al.,  2023 )</a:t>
            </a:r>
            <a:endParaRPr lang="en-US" sz="3200">
              <a:solidFill>
                <a:schemeClr val="accent1">
                  <a:lumMod val="76000"/>
                </a:schemeClr>
              </a:solidFill>
            </a:endParaRPr>
          </a:p>
          <a:p>
            <a:pPr marL="342900" indent="-342900">
              <a:buFont typeface="Arial" panose="020B0504020202020204" pitchFamily="34" charset="0"/>
              <a:buChar char="•"/>
            </a:pPr>
            <a:endParaRPr lang="en-AU"/>
          </a:p>
        </p:txBody>
      </p:sp>
      <p:sp>
        <p:nvSpPr>
          <p:cNvPr id="4" name="Title 1">
            <a:extLst>
              <a:ext uri="{FF2B5EF4-FFF2-40B4-BE49-F238E27FC236}">
                <a16:creationId xmlns:a16="http://schemas.microsoft.com/office/drawing/2014/main" id="{6AF9DB62-C1C7-A290-3243-E6CAB5E93003}"/>
              </a:ext>
            </a:extLst>
          </p:cNvPr>
          <p:cNvSpPr>
            <a:spLocks noGrp="1"/>
          </p:cNvSpPr>
          <p:nvPr>
            <p:ph type="title"/>
          </p:nvPr>
        </p:nvSpPr>
        <p:spPr>
          <a:xfrm>
            <a:off x="1874807" y="-2933"/>
            <a:ext cx="8428008" cy="1325563"/>
          </a:xfrm>
        </p:spPr>
        <p:txBody>
          <a:bodyPr/>
          <a:lstStyle/>
          <a:p>
            <a:r>
              <a:rPr lang="en-AU"/>
              <a:t>Why Kidney allograft rejection? </a:t>
            </a:r>
            <a:endParaRPr lang="en-US"/>
          </a:p>
        </p:txBody>
      </p:sp>
      <p:pic>
        <p:nvPicPr>
          <p:cNvPr id="2" name="Graphic 1" descr="Kidneys outline">
            <a:extLst>
              <a:ext uri="{FF2B5EF4-FFF2-40B4-BE49-F238E27FC236}">
                <a16:creationId xmlns:a16="http://schemas.microsoft.com/office/drawing/2014/main" id="{51934C27-5949-B9C3-B65C-A7E149F87A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07875" y="1709382"/>
            <a:ext cx="1539922" cy="1551295"/>
          </a:xfrm>
          <a:prstGeom prst="rect">
            <a:avLst/>
          </a:prstGeom>
        </p:spPr>
      </p:pic>
      <p:pic>
        <p:nvPicPr>
          <p:cNvPr id="5" name="Graphic 4" descr="Arrow Right with solid fill">
            <a:extLst>
              <a:ext uri="{FF2B5EF4-FFF2-40B4-BE49-F238E27FC236}">
                <a16:creationId xmlns:a16="http://schemas.microsoft.com/office/drawing/2014/main" id="{9A587337-08EC-52ED-00D0-3C18A69248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7026322" y="3267501"/>
            <a:ext cx="914400" cy="914400"/>
          </a:xfrm>
          <a:prstGeom prst="rect">
            <a:avLst/>
          </a:prstGeom>
        </p:spPr>
      </p:pic>
      <p:sp>
        <p:nvSpPr>
          <p:cNvPr id="7" name="TextBox 6">
            <a:extLst>
              <a:ext uri="{FF2B5EF4-FFF2-40B4-BE49-F238E27FC236}">
                <a16:creationId xmlns:a16="http://schemas.microsoft.com/office/drawing/2014/main" id="{1344B448-F121-D843-0D89-8A62DBDD2EEC}"/>
              </a:ext>
            </a:extLst>
          </p:cNvPr>
          <p:cNvSpPr txBox="1"/>
          <p:nvPr/>
        </p:nvSpPr>
        <p:spPr>
          <a:xfrm>
            <a:off x="8250687" y="2226574"/>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a:t>Damaged </a:t>
            </a:r>
          </a:p>
        </p:txBody>
      </p:sp>
      <p:sp>
        <p:nvSpPr>
          <p:cNvPr id="13" name="TextBox 12">
            <a:extLst>
              <a:ext uri="{FF2B5EF4-FFF2-40B4-BE49-F238E27FC236}">
                <a16:creationId xmlns:a16="http://schemas.microsoft.com/office/drawing/2014/main" id="{7A92B32B-9287-1670-D407-5821A4FD0351}"/>
              </a:ext>
            </a:extLst>
          </p:cNvPr>
          <p:cNvSpPr txBox="1"/>
          <p:nvPr/>
        </p:nvSpPr>
        <p:spPr>
          <a:xfrm>
            <a:off x="7585015" y="3428041"/>
            <a:ext cx="2743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a:t>Replace</a:t>
            </a:r>
          </a:p>
        </p:txBody>
      </p:sp>
      <p:pic>
        <p:nvPicPr>
          <p:cNvPr id="14" name="Graphic 13" descr="Kidneys with solid fill">
            <a:extLst>
              <a:ext uri="{FF2B5EF4-FFF2-40B4-BE49-F238E27FC236}">
                <a16:creationId xmlns:a16="http://schemas.microsoft.com/office/drawing/2014/main" id="{D64303C1-F266-DD46-19F7-D6983CC24A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95781" y="3000555"/>
            <a:ext cx="914400" cy="914400"/>
          </a:xfrm>
          <a:prstGeom prst="rect">
            <a:avLst/>
          </a:prstGeom>
        </p:spPr>
      </p:pic>
      <p:pic>
        <p:nvPicPr>
          <p:cNvPr id="15" name="Graphic 14" descr="Kidneys with solid fill">
            <a:extLst>
              <a:ext uri="{FF2B5EF4-FFF2-40B4-BE49-F238E27FC236}">
                <a16:creationId xmlns:a16="http://schemas.microsoft.com/office/drawing/2014/main" id="{7F1ADD71-C77F-2F9B-ABDC-A04CE3769A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02723" y="4050102"/>
            <a:ext cx="1503871" cy="1503871"/>
          </a:xfrm>
          <a:prstGeom prst="rect">
            <a:avLst/>
          </a:prstGeom>
        </p:spPr>
      </p:pic>
      <p:sp>
        <p:nvSpPr>
          <p:cNvPr id="16" name="TextBox 15">
            <a:extLst>
              <a:ext uri="{FF2B5EF4-FFF2-40B4-BE49-F238E27FC236}">
                <a16:creationId xmlns:a16="http://schemas.microsoft.com/office/drawing/2014/main" id="{210E704E-AADA-B617-E001-D5AFCBF8A12D}"/>
              </a:ext>
            </a:extLst>
          </p:cNvPr>
          <p:cNvSpPr txBox="1"/>
          <p:nvPr/>
        </p:nvSpPr>
        <p:spPr>
          <a:xfrm>
            <a:off x="10101053" y="3816228"/>
            <a:ext cx="13198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400"/>
              <a:t>Donor</a:t>
            </a:r>
            <a:endParaRPr lang="en-US"/>
          </a:p>
        </p:txBody>
      </p:sp>
      <p:pic>
        <p:nvPicPr>
          <p:cNvPr id="17" name="Graphic 16" descr="Arrow Right with solid fill">
            <a:extLst>
              <a:ext uri="{FF2B5EF4-FFF2-40B4-BE49-F238E27FC236}">
                <a16:creationId xmlns:a16="http://schemas.microsoft.com/office/drawing/2014/main" id="{AFDAA306-DA9C-6EFB-2FB8-98193F400F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8952888" y="3209991"/>
            <a:ext cx="914400" cy="914400"/>
          </a:xfrm>
          <a:prstGeom prst="rect">
            <a:avLst/>
          </a:prstGeom>
        </p:spPr>
      </p:pic>
    </p:spTree>
    <p:extLst>
      <p:ext uri="{BB962C8B-B14F-4D97-AF65-F5344CB8AC3E}">
        <p14:creationId xmlns:p14="http://schemas.microsoft.com/office/powerpoint/2010/main" val="1050050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9A367-E408-B535-2ECE-F3889323E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4C265-BBA0-3152-B071-0DAD046B0CBD}"/>
              </a:ext>
            </a:extLst>
          </p:cNvPr>
          <p:cNvSpPr>
            <a:spLocks noGrp="1"/>
          </p:cNvSpPr>
          <p:nvPr>
            <p:ph type="title"/>
          </p:nvPr>
        </p:nvSpPr>
        <p:spPr/>
        <p:txBody>
          <a:bodyPr/>
          <a:lstStyle/>
          <a:p>
            <a:r>
              <a:rPr lang="en-AU"/>
              <a:t>Aim</a:t>
            </a:r>
            <a:endParaRPr lang="en-US"/>
          </a:p>
        </p:txBody>
      </p:sp>
      <p:sp>
        <p:nvSpPr>
          <p:cNvPr id="3" name="Content Placeholder 2">
            <a:extLst>
              <a:ext uri="{FF2B5EF4-FFF2-40B4-BE49-F238E27FC236}">
                <a16:creationId xmlns:a16="http://schemas.microsoft.com/office/drawing/2014/main" id="{91A32EE0-CA14-3990-EB24-8E1FCBE022B7}"/>
              </a:ext>
            </a:extLst>
          </p:cNvPr>
          <p:cNvSpPr>
            <a:spLocks noGrp="1"/>
          </p:cNvSpPr>
          <p:nvPr>
            <p:ph idx="1"/>
          </p:nvPr>
        </p:nvSpPr>
        <p:spPr>
          <a:xfrm>
            <a:off x="609600" y="1991185"/>
            <a:ext cx="10972800" cy="1434583"/>
          </a:xfrm>
        </p:spPr>
        <p:txBody>
          <a:bodyPr vert="horz" lIns="91440" tIns="45720" rIns="91440" bIns="45720" rtlCol="0" anchor="t">
            <a:normAutofit/>
          </a:bodyPr>
          <a:lstStyle/>
          <a:p>
            <a:pPr algn="ctr"/>
            <a:r>
              <a:rPr lang="en-AU" sz="2600">
                <a:solidFill>
                  <a:schemeClr val="accent5">
                    <a:lumMod val="76000"/>
                  </a:schemeClr>
                </a:solidFill>
                <a:latin typeface="ADLaM Display"/>
                <a:ea typeface="ADLaM Display"/>
                <a:cs typeface="ADLaM Display"/>
              </a:rPr>
              <a:t>Formulate a model that allows the prediction of successful or rejected kidney allografts for clinicians, that can be used on both biopsy and blood data, depending on the availability. </a:t>
            </a:r>
            <a:endParaRPr lang="en-US" sz="2600">
              <a:solidFill>
                <a:schemeClr val="accent5">
                  <a:lumMod val="76000"/>
                </a:schemeClr>
              </a:solidFill>
              <a:latin typeface="ADLaM Display"/>
              <a:ea typeface="ADLaM Display"/>
              <a:cs typeface="ADLaM Display"/>
            </a:endParaRPr>
          </a:p>
        </p:txBody>
      </p:sp>
      <p:pic>
        <p:nvPicPr>
          <p:cNvPr id="5" name="Graphic 4" descr="Ribbon with solid fill">
            <a:extLst>
              <a:ext uri="{FF2B5EF4-FFF2-40B4-BE49-F238E27FC236}">
                <a16:creationId xmlns:a16="http://schemas.microsoft.com/office/drawing/2014/main" id="{8DC0F91D-E7FA-FA7B-FB6C-5622C1D49A1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65209" y="3337371"/>
            <a:ext cx="2113156" cy="2113156"/>
          </a:xfrm>
          <a:prstGeom prst="rect">
            <a:avLst/>
          </a:prstGeom>
        </p:spPr>
      </p:pic>
      <p:sp>
        <p:nvSpPr>
          <p:cNvPr id="7" name="TextBox 6">
            <a:extLst>
              <a:ext uri="{FF2B5EF4-FFF2-40B4-BE49-F238E27FC236}">
                <a16:creationId xmlns:a16="http://schemas.microsoft.com/office/drawing/2014/main" id="{0E0665B6-CEF7-0B64-6A68-40DF3E2A9FDE}"/>
              </a:ext>
            </a:extLst>
          </p:cNvPr>
          <p:cNvSpPr txBox="1"/>
          <p:nvPr/>
        </p:nvSpPr>
        <p:spPr>
          <a:xfrm>
            <a:off x="1967589" y="5446184"/>
            <a:ext cx="257513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3600">
                <a:solidFill>
                  <a:srgbClr val="000000"/>
                </a:solidFill>
                <a:latin typeface="Calibri"/>
                <a:ea typeface="Calibri"/>
                <a:cs typeface="Calibri"/>
              </a:rPr>
              <a:t>Biopsy data </a:t>
            </a:r>
            <a:r>
              <a:rPr lang="en-AU" sz="1200">
                <a:solidFill>
                  <a:srgbClr val="000000"/>
                </a:solidFill>
                <a:latin typeface="Calibri"/>
                <a:ea typeface="Calibri"/>
                <a:cs typeface="Calibri"/>
              </a:rPr>
              <a:t>(Al-</a:t>
            </a:r>
            <a:r>
              <a:rPr lang="en-AU" sz="1200" err="1">
                <a:solidFill>
                  <a:srgbClr val="000000"/>
                </a:solidFill>
                <a:latin typeface="Calibri"/>
                <a:ea typeface="Calibri"/>
                <a:cs typeface="Calibri"/>
              </a:rPr>
              <a:t>Awwa</a:t>
            </a:r>
            <a:r>
              <a:rPr lang="en-AU" sz="1200">
                <a:solidFill>
                  <a:srgbClr val="000000"/>
                </a:solidFill>
                <a:latin typeface="Calibri"/>
                <a:ea typeface="Calibri"/>
                <a:cs typeface="Calibri"/>
              </a:rPr>
              <a:t> et al., 1998)</a:t>
            </a:r>
            <a:endParaRPr lang="en-US"/>
          </a:p>
        </p:txBody>
      </p:sp>
      <p:pic>
        <p:nvPicPr>
          <p:cNvPr id="9" name="Graphic 8" descr="Tick with solid fill">
            <a:extLst>
              <a:ext uri="{FF2B5EF4-FFF2-40B4-BE49-F238E27FC236}">
                <a16:creationId xmlns:a16="http://schemas.microsoft.com/office/drawing/2014/main" id="{9ACD8D13-2052-F5DC-0B94-78445D4FA1C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64381" y="3783419"/>
            <a:ext cx="514815" cy="589156"/>
          </a:xfrm>
          <a:prstGeom prst="rect">
            <a:avLst/>
          </a:prstGeom>
        </p:spPr>
      </p:pic>
      <p:sp>
        <p:nvSpPr>
          <p:cNvPr id="6" name="Arrow: Right 5">
            <a:extLst>
              <a:ext uri="{FF2B5EF4-FFF2-40B4-BE49-F238E27FC236}">
                <a16:creationId xmlns:a16="http://schemas.microsoft.com/office/drawing/2014/main" id="{97844150-8F0B-836F-7B35-12753D9BD8FB}"/>
              </a:ext>
            </a:extLst>
          </p:cNvPr>
          <p:cNvSpPr/>
          <p:nvPr/>
        </p:nvSpPr>
        <p:spPr>
          <a:xfrm>
            <a:off x="5105653" y="4073866"/>
            <a:ext cx="1344705" cy="963705"/>
          </a:xfrm>
          <a:prstGeom prst="rightArrow">
            <a:avLst/>
          </a:prstGeom>
          <a:ln w="571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pic>
        <p:nvPicPr>
          <p:cNvPr id="10" name="Graphic 9" descr="No Walking with solid fill">
            <a:extLst>
              <a:ext uri="{FF2B5EF4-FFF2-40B4-BE49-F238E27FC236}">
                <a16:creationId xmlns:a16="http://schemas.microsoft.com/office/drawing/2014/main" id="{0E91EFDC-AE10-FFCF-3BDA-057C294784E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89630" y="3518140"/>
            <a:ext cx="2107720" cy="2078966"/>
          </a:xfrm>
          <a:prstGeom prst="rect">
            <a:avLst/>
          </a:prstGeom>
        </p:spPr>
      </p:pic>
      <p:sp>
        <p:nvSpPr>
          <p:cNvPr id="11" name="TextBox 10">
            <a:extLst>
              <a:ext uri="{FF2B5EF4-FFF2-40B4-BE49-F238E27FC236}">
                <a16:creationId xmlns:a16="http://schemas.microsoft.com/office/drawing/2014/main" id="{F54117C9-68A1-D02F-E2A2-2B9CCEBCEE3D}"/>
              </a:ext>
            </a:extLst>
          </p:cNvPr>
          <p:cNvSpPr txBox="1"/>
          <p:nvPr/>
        </p:nvSpPr>
        <p:spPr>
          <a:xfrm>
            <a:off x="8850109" y="4085284"/>
            <a:ext cx="27432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a:t>Invasive</a:t>
            </a:r>
          </a:p>
        </p:txBody>
      </p:sp>
    </p:spTree>
    <p:extLst>
      <p:ext uri="{BB962C8B-B14F-4D97-AF65-F5344CB8AC3E}">
        <p14:creationId xmlns:p14="http://schemas.microsoft.com/office/powerpoint/2010/main" val="3741139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243C5-4E9F-1D0C-F5D9-822C3146B193}"/>
              </a:ext>
            </a:extLst>
          </p:cNvPr>
          <p:cNvSpPr>
            <a:spLocks noGrp="1"/>
          </p:cNvSpPr>
          <p:nvPr>
            <p:ph type="title"/>
          </p:nvPr>
        </p:nvSpPr>
        <p:spPr>
          <a:xfrm>
            <a:off x="609600" y="800463"/>
            <a:ext cx="10972800" cy="675622"/>
          </a:xfrm>
        </p:spPr>
        <p:txBody>
          <a:bodyPr>
            <a:noAutofit/>
          </a:bodyPr>
          <a:lstStyle/>
          <a:p>
            <a:r>
              <a:rPr lang="en-US"/>
              <a:t>Methods - Workflow</a:t>
            </a:r>
          </a:p>
        </p:txBody>
      </p:sp>
      <p:pic>
        <p:nvPicPr>
          <p:cNvPr id="5" name="Content Placeholder 4" descr="A diagram of a method&#10;&#10;AI-generated content may be incorrect.">
            <a:extLst>
              <a:ext uri="{FF2B5EF4-FFF2-40B4-BE49-F238E27FC236}">
                <a16:creationId xmlns:a16="http://schemas.microsoft.com/office/drawing/2014/main" id="{96375555-7ECA-9027-DE4D-6A6343BCB5CC}"/>
              </a:ext>
            </a:extLst>
          </p:cNvPr>
          <p:cNvPicPr>
            <a:picLocks noGrp="1" noChangeAspect="1"/>
          </p:cNvPicPr>
          <p:nvPr>
            <p:ph idx="1"/>
          </p:nvPr>
        </p:nvPicPr>
        <p:blipFill>
          <a:blip r:embed="rId3"/>
          <a:stretch>
            <a:fillRect/>
          </a:stretch>
        </p:blipFill>
        <p:spPr>
          <a:xfrm>
            <a:off x="1559278" y="1477025"/>
            <a:ext cx="9073444" cy="5103813"/>
          </a:xfrm>
        </p:spPr>
      </p:pic>
    </p:spTree>
    <p:extLst>
      <p:ext uri="{BB962C8B-B14F-4D97-AF65-F5344CB8AC3E}">
        <p14:creationId xmlns:p14="http://schemas.microsoft.com/office/powerpoint/2010/main" val="752378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C311D-9D29-9FCD-F530-93FEF04DB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6BE24-30A5-9B4F-2C2A-DE980D868AB2}"/>
              </a:ext>
            </a:extLst>
          </p:cNvPr>
          <p:cNvSpPr>
            <a:spLocks noGrp="1"/>
          </p:cNvSpPr>
          <p:nvPr>
            <p:ph type="title"/>
          </p:nvPr>
        </p:nvSpPr>
        <p:spPr>
          <a:xfrm>
            <a:off x="609600" y="800463"/>
            <a:ext cx="10972800" cy="675622"/>
          </a:xfrm>
        </p:spPr>
        <p:txBody>
          <a:bodyPr>
            <a:noAutofit/>
          </a:bodyPr>
          <a:lstStyle/>
          <a:p>
            <a:r>
              <a:rPr lang="en-US"/>
              <a:t>Methods - Workflow</a:t>
            </a:r>
          </a:p>
        </p:txBody>
      </p:sp>
      <p:pic>
        <p:nvPicPr>
          <p:cNvPr id="5" name="Content Placeholder 4" descr="A diagram of a method&#10;&#10;AI-generated content may be incorrect.">
            <a:extLst>
              <a:ext uri="{FF2B5EF4-FFF2-40B4-BE49-F238E27FC236}">
                <a16:creationId xmlns:a16="http://schemas.microsoft.com/office/drawing/2014/main" id="{C982F568-D761-50C6-CC39-D459208DA975}"/>
              </a:ext>
            </a:extLst>
          </p:cNvPr>
          <p:cNvPicPr>
            <a:picLocks noGrp="1" noChangeAspect="1"/>
          </p:cNvPicPr>
          <p:nvPr>
            <p:ph idx="1"/>
          </p:nvPr>
        </p:nvPicPr>
        <p:blipFill>
          <a:blip r:embed="rId3"/>
          <a:srcRect l="3315" t="7073" r="5746" b="70727"/>
          <a:stretch>
            <a:fillRect/>
          </a:stretch>
        </p:blipFill>
        <p:spPr>
          <a:xfrm>
            <a:off x="-4828" y="1637446"/>
            <a:ext cx="12211722" cy="1674494"/>
          </a:xfrm>
        </p:spPr>
      </p:pic>
      <p:pic>
        <p:nvPicPr>
          <p:cNvPr id="4" name="Graphic 3" descr="Checkbox Ticked outline">
            <a:extLst>
              <a:ext uri="{FF2B5EF4-FFF2-40B4-BE49-F238E27FC236}">
                <a16:creationId xmlns:a16="http://schemas.microsoft.com/office/drawing/2014/main" id="{7279823D-62D3-B178-D69F-65024BEF12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593" y="3776932"/>
            <a:ext cx="914400" cy="914400"/>
          </a:xfrm>
          <a:prstGeom prst="rect">
            <a:avLst/>
          </a:prstGeom>
        </p:spPr>
      </p:pic>
      <p:pic>
        <p:nvPicPr>
          <p:cNvPr id="6" name="Graphic 5" descr="Checkbox Ticked outline">
            <a:extLst>
              <a:ext uri="{FF2B5EF4-FFF2-40B4-BE49-F238E27FC236}">
                <a16:creationId xmlns:a16="http://schemas.microsoft.com/office/drawing/2014/main" id="{13E8A630-9E8E-CFE2-B1CA-D086E65DED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592" y="4797723"/>
            <a:ext cx="914400" cy="914400"/>
          </a:xfrm>
          <a:prstGeom prst="rect">
            <a:avLst/>
          </a:prstGeom>
        </p:spPr>
      </p:pic>
      <p:sp>
        <p:nvSpPr>
          <p:cNvPr id="7" name="TextBox 6">
            <a:extLst>
              <a:ext uri="{FF2B5EF4-FFF2-40B4-BE49-F238E27FC236}">
                <a16:creationId xmlns:a16="http://schemas.microsoft.com/office/drawing/2014/main" id="{35179624-8DA6-F542-EAE0-6BB118F8886B}"/>
              </a:ext>
            </a:extLst>
          </p:cNvPr>
          <p:cNvSpPr txBox="1"/>
          <p:nvPr/>
        </p:nvSpPr>
        <p:spPr>
          <a:xfrm>
            <a:off x="1478075" y="3948492"/>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t>Microarray </a:t>
            </a:r>
          </a:p>
        </p:txBody>
      </p:sp>
      <p:sp>
        <p:nvSpPr>
          <p:cNvPr id="8" name="TextBox 7">
            <a:extLst>
              <a:ext uri="{FF2B5EF4-FFF2-40B4-BE49-F238E27FC236}">
                <a16:creationId xmlns:a16="http://schemas.microsoft.com/office/drawing/2014/main" id="{73469F1D-905C-ECF7-18C2-DAA5791B9E27}"/>
              </a:ext>
            </a:extLst>
          </p:cNvPr>
          <p:cNvSpPr txBox="1"/>
          <p:nvPr/>
        </p:nvSpPr>
        <p:spPr>
          <a:xfrm>
            <a:off x="1478074" y="4954906"/>
            <a:ext cx="455474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t>Binary outcome</a:t>
            </a:r>
            <a:endParaRPr lang="en-US" sz="3200"/>
          </a:p>
        </p:txBody>
      </p:sp>
      <p:sp>
        <p:nvSpPr>
          <p:cNvPr id="12" name="TextBox 11">
            <a:extLst>
              <a:ext uri="{FF2B5EF4-FFF2-40B4-BE49-F238E27FC236}">
                <a16:creationId xmlns:a16="http://schemas.microsoft.com/office/drawing/2014/main" id="{10E4BE8B-5BD5-5D7F-97EB-F366C0E40FA3}"/>
              </a:ext>
            </a:extLst>
          </p:cNvPr>
          <p:cNvSpPr txBox="1"/>
          <p:nvPr/>
        </p:nvSpPr>
        <p:spPr>
          <a:xfrm>
            <a:off x="8045571" y="3425645"/>
            <a:ext cx="557842" cy="3046988"/>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sz="3200" b="1">
                <a:solidFill>
                  <a:schemeClr val="accent3"/>
                </a:solidFill>
              </a:rPr>
              <a:t>COMBAT </a:t>
            </a:r>
          </a:p>
        </p:txBody>
      </p:sp>
      <p:sp>
        <p:nvSpPr>
          <p:cNvPr id="13" name="TextBox 12">
            <a:extLst>
              <a:ext uri="{FF2B5EF4-FFF2-40B4-BE49-F238E27FC236}">
                <a16:creationId xmlns:a16="http://schemas.microsoft.com/office/drawing/2014/main" id="{516B21B7-67F7-6692-DB21-1C65A636640D}"/>
              </a:ext>
            </a:extLst>
          </p:cNvPr>
          <p:cNvSpPr txBox="1"/>
          <p:nvPr/>
        </p:nvSpPr>
        <p:spPr>
          <a:xfrm>
            <a:off x="9238891" y="3670060"/>
            <a:ext cx="327805" cy="255454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sz="3200" b="1">
                <a:solidFill>
                  <a:schemeClr val="accent3"/>
                </a:solidFill>
              </a:rPr>
              <a:t>LIMMA</a:t>
            </a:r>
          </a:p>
        </p:txBody>
      </p:sp>
      <p:sp>
        <p:nvSpPr>
          <p:cNvPr id="14" name="TextBox 13">
            <a:extLst>
              <a:ext uri="{FF2B5EF4-FFF2-40B4-BE49-F238E27FC236}">
                <a16:creationId xmlns:a16="http://schemas.microsoft.com/office/drawing/2014/main" id="{85601887-A32B-DB1A-55AB-BCA9602FA647}"/>
              </a:ext>
            </a:extLst>
          </p:cNvPr>
          <p:cNvSpPr txBox="1"/>
          <p:nvPr/>
        </p:nvSpPr>
        <p:spPr>
          <a:xfrm>
            <a:off x="8591910" y="4647721"/>
            <a:ext cx="557842" cy="58477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sz="3200" b="1">
                <a:solidFill>
                  <a:schemeClr val="accent3"/>
                </a:solidFill>
              </a:rPr>
              <a:t>+</a:t>
            </a:r>
            <a:endParaRPr lang="en-US" b="1"/>
          </a:p>
        </p:txBody>
      </p:sp>
      <p:sp>
        <p:nvSpPr>
          <p:cNvPr id="15" name="Arrow: Pentagon 14">
            <a:extLst>
              <a:ext uri="{FF2B5EF4-FFF2-40B4-BE49-F238E27FC236}">
                <a16:creationId xmlns:a16="http://schemas.microsoft.com/office/drawing/2014/main" id="{C3C4498C-EA02-85A6-2950-38ED1CA968F9}"/>
              </a:ext>
            </a:extLst>
          </p:cNvPr>
          <p:cNvSpPr/>
          <p:nvPr/>
        </p:nvSpPr>
        <p:spPr>
          <a:xfrm>
            <a:off x="8018732" y="3440023"/>
            <a:ext cx="3082984" cy="3070045"/>
          </a:xfrm>
          <a:prstGeom prst="homePlate">
            <a:avLst/>
          </a:prstGeom>
          <a:noFill/>
          <a:ln w="57150">
            <a:solidFill>
              <a:schemeClr val="accent1"/>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304549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0FCAE-4154-EF7B-0DCD-812A73E2C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4B92B-623F-5593-9600-EB300EF5F94B}"/>
              </a:ext>
            </a:extLst>
          </p:cNvPr>
          <p:cNvSpPr>
            <a:spLocks noGrp="1"/>
          </p:cNvSpPr>
          <p:nvPr>
            <p:ph type="title"/>
          </p:nvPr>
        </p:nvSpPr>
        <p:spPr>
          <a:xfrm>
            <a:off x="609600" y="800463"/>
            <a:ext cx="10972800" cy="675622"/>
          </a:xfrm>
        </p:spPr>
        <p:txBody>
          <a:bodyPr>
            <a:noAutofit/>
          </a:bodyPr>
          <a:lstStyle/>
          <a:p>
            <a:r>
              <a:rPr lang="en-US"/>
              <a:t>Methods - Workflow</a:t>
            </a:r>
          </a:p>
        </p:txBody>
      </p:sp>
      <p:pic>
        <p:nvPicPr>
          <p:cNvPr id="5" name="Content Placeholder 4" descr="A diagram of a method&#10;&#10;AI-generated content may be incorrect.">
            <a:extLst>
              <a:ext uri="{FF2B5EF4-FFF2-40B4-BE49-F238E27FC236}">
                <a16:creationId xmlns:a16="http://schemas.microsoft.com/office/drawing/2014/main" id="{25A6E00B-00B1-1A69-E365-C11A719DE2E1}"/>
              </a:ext>
            </a:extLst>
          </p:cNvPr>
          <p:cNvPicPr>
            <a:picLocks noGrp="1" noChangeAspect="1"/>
          </p:cNvPicPr>
          <p:nvPr>
            <p:ph idx="1"/>
          </p:nvPr>
        </p:nvPicPr>
        <p:blipFill>
          <a:blip r:embed="rId3"/>
          <a:srcRect l="3425" t="29469" r="5856" b="50098"/>
          <a:stretch>
            <a:fillRect/>
          </a:stretch>
        </p:blipFill>
        <p:spPr>
          <a:xfrm>
            <a:off x="1037" y="2553624"/>
            <a:ext cx="13191463" cy="1747318"/>
          </a:xfrm>
        </p:spPr>
      </p:pic>
    </p:spTree>
    <p:extLst>
      <p:ext uri="{BB962C8B-B14F-4D97-AF65-F5344CB8AC3E}">
        <p14:creationId xmlns:p14="http://schemas.microsoft.com/office/powerpoint/2010/main" val="1395923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01829-805D-39FC-CEF1-1F7BE18B4912}"/>
              </a:ext>
            </a:extLst>
          </p:cNvPr>
          <p:cNvSpPr>
            <a:spLocks noGrp="1"/>
          </p:cNvSpPr>
          <p:nvPr>
            <p:ph type="title"/>
          </p:nvPr>
        </p:nvSpPr>
        <p:spPr>
          <a:xfrm>
            <a:off x="3636723" y="557784"/>
            <a:ext cx="5304773" cy="1325563"/>
          </a:xfrm>
        </p:spPr>
        <p:txBody>
          <a:bodyPr>
            <a:normAutofit fontScale="90000"/>
          </a:bodyPr>
          <a:lstStyle/>
          <a:p>
            <a:r>
              <a:rPr lang="en-US">
                <a:cs typeface="Posterama"/>
              </a:rPr>
              <a:t>Innovation – Network Theory </a:t>
            </a:r>
            <a:endParaRPr lang="en-US"/>
          </a:p>
        </p:txBody>
      </p:sp>
      <p:sp>
        <p:nvSpPr>
          <p:cNvPr id="3" name="TextBox 2">
            <a:extLst>
              <a:ext uri="{FF2B5EF4-FFF2-40B4-BE49-F238E27FC236}">
                <a16:creationId xmlns:a16="http://schemas.microsoft.com/office/drawing/2014/main" id="{8A5EA0DB-80E7-3BC1-B8B1-65520FAAAD90}"/>
              </a:ext>
            </a:extLst>
          </p:cNvPr>
          <p:cNvSpPr txBox="1"/>
          <p:nvPr/>
        </p:nvSpPr>
        <p:spPr>
          <a:xfrm>
            <a:off x="648277" y="5527247"/>
            <a:ext cx="37698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(Wu et al., 2014)</a:t>
            </a:r>
          </a:p>
        </p:txBody>
      </p:sp>
      <p:graphicFrame>
        <p:nvGraphicFramePr>
          <p:cNvPr id="13" name="Table 12">
            <a:extLst>
              <a:ext uri="{FF2B5EF4-FFF2-40B4-BE49-F238E27FC236}">
                <a16:creationId xmlns:a16="http://schemas.microsoft.com/office/drawing/2014/main" id="{941E81CA-6028-20E6-8499-C69995A93FFA}"/>
              </a:ext>
            </a:extLst>
          </p:cNvPr>
          <p:cNvGraphicFramePr>
            <a:graphicFrameLocks noGrp="1"/>
          </p:cNvGraphicFramePr>
          <p:nvPr>
            <p:extLst>
              <p:ext uri="{D42A27DB-BD31-4B8C-83A1-F6EECF244321}">
                <p14:modId xmlns:p14="http://schemas.microsoft.com/office/powerpoint/2010/main" val="672205421"/>
              </p:ext>
            </p:extLst>
          </p:nvPr>
        </p:nvGraphicFramePr>
        <p:xfrm>
          <a:off x="3627328" y="2072013"/>
          <a:ext cx="7954772" cy="3609702"/>
        </p:xfrm>
        <a:graphic>
          <a:graphicData uri="http://schemas.openxmlformats.org/drawingml/2006/table">
            <a:tbl>
              <a:tblPr firstRow="1" bandRow="1">
                <a:tableStyleId>{5C22544A-7EE6-4342-B048-85BDC9FD1C3A}</a:tableStyleId>
              </a:tblPr>
              <a:tblGrid>
                <a:gridCol w="1702349">
                  <a:extLst>
                    <a:ext uri="{9D8B030D-6E8A-4147-A177-3AD203B41FA5}">
                      <a16:colId xmlns:a16="http://schemas.microsoft.com/office/drawing/2014/main" val="1332942244"/>
                    </a:ext>
                  </a:extLst>
                </a:gridCol>
                <a:gridCol w="2665767">
                  <a:extLst>
                    <a:ext uri="{9D8B030D-6E8A-4147-A177-3AD203B41FA5}">
                      <a16:colId xmlns:a16="http://schemas.microsoft.com/office/drawing/2014/main" val="3640612859"/>
                    </a:ext>
                  </a:extLst>
                </a:gridCol>
                <a:gridCol w="3586656">
                  <a:extLst>
                    <a:ext uri="{9D8B030D-6E8A-4147-A177-3AD203B41FA5}">
                      <a16:colId xmlns:a16="http://schemas.microsoft.com/office/drawing/2014/main" val="292473814"/>
                    </a:ext>
                  </a:extLst>
                </a:gridCol>
              </a:tblGrid>
              <a:tr h="403411">
                <a:tc>
                  <a:txBody>
                    <a:bodyPr/>
                    <a:lstStyle/>
                    <a:p>
                      <a:r>
                        <a:rPr lang="en-US"/>
                        <a:t>Centrality Measure</a:t>
                      </a:r>
                    </a:p>
                  </a:txBody>
                  <a:tcPr/>
                </a:tc>
                <a:tc>
                  <a:txBody>
                    <a:bodyPr/>
                    <a:lstStyle/>
                    <a:p>
                      <a:r>
                        <a:rPr lang="en-US"/>
                        <a:t>Description</a:t>
                      </a:r>
                    </a:p>
                  </a:txBody>
                  <a:tcPr/>
                </a:tc>
                <a:tc>
                  <a:txBody>
                    <a:bodyPr/>
                    <a:lstStyle/>
                    <a:p>
                      <a:r>
                        <a:rPr lang="en-US"/>
                        <a:t>Formula</a:t>
                      </a:r>
                    </a:p>
                  </a:txBody>
                  <a:tcPr/>
                </a:tc>
                <a:extLst>
                  <a:ext uri="{0D108BD9-81ED-4DB2-BD59-A6C34878D82A}">
                    <a16:rowId xmlns:a16="http://schemas.microsoft.com/office/drawing/2014/main" val="1603375338"/>
                  </a:ext>
                </a:extLst>
              </a:tr>
              <a:tr h="370840">
                <a:tc>
                  <a:txBody>
                    <a:bodyPr/>
                    <a:lstStyle/>
                    <a:p>
                      <a:r>
                        <a:rPr lang="en-US"/>
                        <a:t>Degree</a:t>
                      </a:r>
                    </a:p>
                  </a:txBody>
                  <a:tcPr/>
                </a:tc>
                <a:tc>
                  <a:txBody>
                    <a:bodyPr/>
                    <a:lstStyle/>
                    <a:p>
                      <a:r>
                        <a:rPr lang="en-US"/>
                        <a:t># of direct connections</a:t>
                      </a:r>
                    </a:p>
                  </a:txBody>
                  <a:tcPr/>
                </a:tc>
                <a:tc>
                  <a:txBody>
                    <a:bodyPr/>
                    <a:lstStyle/>
                    <a:p>
                      <a:pPr lvl="0">
                        <a:buNone/>
                      </a:pPr>
                      <a:r>
                        <a:rPr lang="en-US" sz="2000" b="0" i="0" u="none" strike="noStrike" noProof="0">
                          <a:latin typeface="Cambria"/>
                        </a:rPr>
                        <a:t>deg(v) = ∑ aᵢⱼ</a:t>
                      </a:r>
                      <a:endParaRPr lang="en-US" sz="2000"/>
                    </a:p>
                  </a:txBody>
                  <a:tcPr/>
                </a:tc>
                <a:extLst>
                  <a:ext uri="{0D108BD9-81ED-4DB2-BD59-A6C34878D82A}">
                    <a16:rowId xmlns:a16="http://schemas.microsoft.com/office/drawing/2014/main" val="3680062676"/>
                  </a:ext>
                </a:extLst>
              </a:tr>
              <a:tr h="653142">
                <a:tc>
                  <a:txBody>
                    <a:bodyPr/>
                    <a:lstStyle/>
                    <a:p>
                      <a:r>
                        <a:rPr lang="en-US"/>
                        <a:t>Betweenness</a:t>
                      </a:r>
                    </a:p>
                  </a:txBody>
                  <a:tcPr/>
                </a:tc>
                <a:tc>
                  <a:txBody>
                    <a:bodyPr/>
                    <a:lstStyle/>
                    <a:p>
                      <a:r>
                        <a:rPr lang="en-US"/>
                        <a:t>importance in shortest paths</a:t>
                      </a:r>
                    </a:p>
                  </a:txBody>
                  <a:tcPr/>
                </a:tc>
                <a:tc>
                  <a:txBody>
                    <a:bodyPr/>
                    <a:lstStyle/>
                    <a:p>
                      <a:pPr lvl="0">
                        <a:buNone/>
                      </a:pPr>
                      <a:r>
                        <a:rPr lang="en-US" sz="2000" b="0" i="0" u="none" strike="noStrike" noProof="0">
                          <a:latin typeface="Cambria"/>
                        </a:rPr>
                        <a:t>C_B(v) = ∑ (σᵢⱼ(v) / σᵢⱼ)</a:t>
                      </a:r>
                      <a:endParaRPr lang="en-US" sz="2000"/>
                    </a:p>
                  </a:txBody>
                  <a:tcPr/>
                </a:tc>
                <a:extLst>
                  <a:ext uri="{0D108BD9-81ED-4DB2-BD59-A6C34878D82A}">
                    <a16:rowId xmlns:a16="http://schemas.microsoft.com/office/drawing/2014/main" val="2796388382"/>
                  </a:ext>
                </a:extLst>
              </a:tr>
              <a:tr h="370840">
                <a:tc>
                  <a:txBody>
                    <a:bodyPr/>
                    <a:lstStyle/>
                    <a:p>
                      <a:r>
                        <a:rPr lang="en-US"/>
                        <a:t>PageRank</a:t>
                      </a:r>
                    </a:p>
                  </a:txBody>
                  <a:tcPr/>
                </a:tc>
                <a:tc>
                  <a:txBody>
                    <a:bodyPr/>
                    <a:lstStyle/>
                    <a:p>
                      <a:r>
                        <a:rPr lang="en-US"/>
                        <a:t>recursive node importance</a:t>
                      </a:r>
                    </a:p>
                  </a:txBody>
                  <a:tcPr/>
                </a:tc>
                <a:tc>
                  <a:txBody>
                    <a:bodyPr/>
                    <a:lstStyle/>
                    <a:p>
                      <a:pPr lvl="0">
                        <a:buNone/>
                      </a:pPr>
                      <a:r>
                        <a:rPr lang="en-US" sz="1600" b="0" i="0" u="none" strike="noStrike" noProof="0">
                          <a:latin typeface="Cambria"/>
                        </a:rPr>
                        <a:t>PR(</a:t>
                      </a:r>
                      <a:r>
                        <a:rPr lang="en-US" sz="1600" b="0" i="0" u="none" strike="noStrike" noProof="0" err="1">
                          <a:latin typeface="Cambria"/>
                        </a:rPr>
                        <a:t>i</a:t>
                      </a:r>
                      <a:r>
                        <a:rPr lang="en-US" sz="1600" b="0" i="0" u="none" strike="noStrike" noProof="0">
                          <a:latin typeface="Cambria"/>
                        </a:rPr>
                        <a:t>) = (1 - d)/N + d * ∑ [PR(j)/L(j)], for j ∈ M(</a:t>
                      </a:r>
                      <a:r>
                        <a:rPr lang="en-US" sz="1600" b="0" i="0" u="none" strike="noStrike" noProof="0" err="1">
                          <a:latin typeface="Cambria"/>
                        </a:rPr>
                        <a:t>i</a:t>
                      </a:r>
                      <a:r>
                        <a:rPr lang="en-US" sz="1600" b="0" i="0" u="none" strike="noStrike" noProof="0">
                          <a:latin typeface="Cambria"/>
                        </a:rPr>
                        <a:t>)</a:t>
                      </a:r>
                      <a:endParaRPr lang="en-US" sz="1600"/>
                    </a:p>
                  </a:txBody>
                  <a:tcPr/>
                </a:tc>
                <a:extLst>
                  <a:ext uri="{0D108BD9-81ED-4DB2-BD59-A6C34878D82A}">
                    <a16:rowId xmlns:a16="http://schemas.microsoft.com/office/drawing/2014/main" val="71751187"/>
                  </a:ext>
                </a:extLst>
              </a:tr>
              <a:tr h="370839">
                <a:tc>
                  <a:txBody>
                    <a:bodyPr/>
                    <a:lstStyle/>
                    <a:p>
                      <a:r>
                        <a:rPr lang="en-US"/>
                        <a:t>Eigenvector</a:t>
                      </a:r>
                    </a:p>
                  </a:txBody>
                  <a:tcPr/>
                </a:tc>
                <a:tc>
                  <a:txBody>
                    <a:bodyPr/>
                    <a:lstStyle/>
                    <a:p>
                      <a:r>
                        <a:rPr lang="en-US"/>
                        <a:t>influence via connected nodes</a:t>
                      </a:r>
                    </a:p>
                  </a:txBody>
                  <a:tcPr/>
                </a:tc>
                <a:tc>
                  <a:txBody>
                    <a:bodyPr/>
                    <a:lstStyle/>
                    <a:p>
                      <a:pPr lvl="0">
                        <a:buNone/>
                      </a:pPr>
                      <a:r>
                        <a:rPr lang="en-US" sz="2000" b="0" i="0" u="none" strike="noStrike" noProof="0">
                          <a:latin typeface="Cambria"/>
                        </a:rPr>
                        <a:t>A</a:t>
                      </a:r>
                      <a:r>
                        <a:rPr lang="en-US" sz="2000" b="1" i="0" u="sng" strike="noStrike" noProof="0">
                          <a:latin typeface="Cambria"/>
                        </a:rPr>
                        <a:t>x</a:t>
                      </a:r>
                      <a:r>
                        <a:rPr lang="en-US" sz="2000" b="0" i="0" u="none" strike="noStrike" noProof="0">
                          <a:latin typeface="Cambria"/>
                        </a:rPr>
                        <a:t> = </a:t>
                      </a:r>
                      <a:r>
                        <a:rPr lang="en-US" sz="2000" b="0" i="0" u="none" strike="noStrike" noProof="0" err="1">
                          <a:latin typeface="Cambria"/>
                        </a:rPr>
                        <a:t>λ</a:t>
                      </a:r>
                      <a:r>
                        <a:rPr lang="en-US" sz="2000" b="1" i="0" u="sng" strike="noStrike" noProof="0" err="1">
                          <a:latin typeface="Cambria"/>
                        </a:rPr>
                        <a:t>x</a:t>
                      </a:r>
                      <a:endParaRPr lang="en-US" sz="2000" b="1" u="sng" err="1"/>
                    </a:p>
                  </a:txBody>
                  <a:tcPr/>
                </a:tc>
                <a:extLst>
                  <a:ext uri="{0D108BD9-81ED-4DB2-BD59-A6C34878D82A}">
                    <a16:rowId xmlns:a16="http://schemas.microsoft.com/office/drawing/2014/main" val="785220245"/>
                  </a:ext>
                </a:extLst>
              </a:tr>
              <a:tr h="370840">
                <a:tc>
                  <a:txBody>
                    <a:bodyPr/>
                    <a:lstStyle/>
                    <a:p>
                      <a:r>
                        <a:rPr lang="en-US"/>
                        <a:t>K-Core</a:t>
                      </a:r>
                    </a:p>
                  </a:txBody>
                  <a:tcPr/>
                </a:tc>
                <a:tc>
                  <a:txBody>
                    <a:bodyPr/>
                    <a:lstStyle/>
                    <a:p>
                      <a:r>
                        <a:rPr lang="en-US"/>
                        <a:t>depth of embedding in dense subgraphs</a:t>
                      </a:r>
                    </a:p>
                  </a:txBody>
                  <a:tcPr/>
                </a:tc>
                <a:tc>
                  <a:txBody>
                    <a:bodyPr/>
                    <a:lstStyle/>
                    <a:p>
                      <a:pPr lvl="0">
                        <a:buNone/>
                      </a:pPr>
                      <a:r>
                        <a:rPr lang="en-US" sz="2000" b="0" i="0" u="none" strike="noStrike" noProof="0">
                          <a:latin typeface="Cambria"/>
                        </a:rPr>
                        <a:t>v ∈ k-core ⇔ deg(v) ≥ k</a:t>
                      </a:r>
                      <a:endParaRPr lang="en-US" sz="2000"/>
                    </a:p>
                  </a:txBody>
                  <a:tcPr/>
                </a:tc>
                <a:extLst>
                  <a:ext uri="{0D108BD9-81ED-4DB2-BD59-A6C34878D82A}">
                    <a16:rowId xmlns:a16="http://schemas.microsoft.com/office/drawing/2014/main" val="2483211274"/>
                  </a:ext>
                </a:extLst>
              </a:tr>
            </a:tbl>
          </a:graphicData>
        </a:graphic>
      </p:graphicFrame>
      <p:pic>
        <p:nvPicPr>
          <p:cNvPr id="14" name="Picture 13" descr="A black and white diagram of a triangle&#10;&#10;AI-generated content may be incorrect.">
            <a:extLst>
              <a:ext uri="{FF2B5EF4-FFF2-40B4-BE49-F238E27FC236}">
                <a16:creationId xmlns:a16="http://schemas.microsoft.com/office/drawing/2014/main" id="{B93297C5-B80D-6CCA-ACFD-9346411D3F0B}"/>
              </a:ext>
            </a:extLst>
          </p:cNvPr>
          <p:cNvPicPr>
            <a:picLocks noChangeAspect="1"/>
          </p:cNvPicPr>
          <p:nvPr/>
        </p:nvPicPr>
        <p:blipFill>
          <a:blip r:embed="rId2"/>
          <a:stretch>
            <a:fillRect/>
          </a:stretch>
        </p:blipFill>
        <p:spPr>
          <a:xfrm>
            <a:off x="505240" y="2072013"/>
            <a:ext cx="2924781" cy="2661782"/>
          </a:xfrm>
          <a:prstGeom prst="rect">
            <a:avLst/>
          </a:prstGeom>
        </p:spPr>
      </p:pic>
    </p:spTree>
    <p:extLst>
      <p:ext uri="{BB962C8B-B14F-4D97-AF65-F5344CB8AC3E}">
        <p14:creationId xmlns:p14="http://schemas.microsoft.com/office/powerpoint/2010/main" val="4207618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D3DD-E43D-B59C-DA2D-BB68A923B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CE3ED-A48C-399A-5F88-3658BEA9EE7D}"/>
              </a:ext>
            </a:extLst>
          </p:cNvPr>
          <p:cNvSpPr>
            <a:spLocks noGrp="1"/>
          </p:cNvSpPr>
          <p:nvPr>
            <p:ph type="title"/>
          </p:nvPr>
        </p:nvSpPr>
        <p:spPr>
          <a:xfrm>
            <a:off x="609600" y="800463"/>
            <a:ext cx="10972800" cy="675622"/>
          </a:xfrm>
        </p:spPr>
        <p:txBody>
          <a:bodyPr>
            <a:noAutofit/>
          </a:bodyPr>
          <a:lstStyle/>
          <a:p>
            <a:r>
              <a:rPr lang="en-US"/>
              <a:t>Methods - Workflow</a:t>
            </a:r>
          </a:p>
        </p:txBody>
      </p:sp>
      <p:pic>
        <p:nvPicPr>
          <p:cNvPr id="5" name="Content Placeholder 4" descr="A diagram of a method&#10;&#10;AI-generated content may be incorrect.">
            <a:extLst>
              <a:ext uri="{FF2B5EF4-FFF2-40B4-BE49-F238E27FC236}">
                <a16:creationId xmlns:a16="http://schemas.microsoft.com/office/drawing/2014/main" id="{8968E3A9-1372-1250-10E8-C87D41C7DB2D}"/>
              </a:ext>
            </a:extLst>
          </p:cNvPr>
          <p:cNvPicPr>
            <a:picLocks noGrp="1" noChangeAspect="1"/>
          </p:cNvPicPr>
          <p:nvPr>
            <p:ph idx="1"/>
          </p:nvPr>
        </p:nvPicPr>
        <p:blipFill>
          <a:blip r:embed="rId3"/>
          <a:srcRect l="3204" t="50098" r="5746" b="29273"/>
          <a:stretch>
            <a:fillRect/>
          </a:stretch>
        </p:blipFill>
        <p:spPr>
          <a:xfrm>
            <a:off x="-4447" y="2157112"/>
            <a:ext cx="19927443" cy="2544504"/>
          </a:xfrm>
        </p:spPr>
      </p:pic>
    </p:spTree>
    <p:extLst>
      <p:ext uri="{BB962C8B-B14F-4D97-AF65-F5344CB8AC3E}">
        <p14:creationId xmlns:p14="http://schemas.microsoft.com/office/powerpoint/2010/main" val="2981955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5EDBF-24F2-7AF3-902C-24DAA515D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3166-CB18-003E-B8E4-FB9463BDE0F4}"/>
              </a:ext>
            </a:extLst>
          </p:cNvPr>
          <p:cNvSpPr>
            <a:spLocks noGrp="1"/>
          </p:cNvSpPr>
          <p:nvPr>
            <p:ph type="title"/>
          </p:nvPr>
        </p:nvSpPr>
        <p:spPr>
          <a:xfrm>
            <a:off x="609600" y="800463"/>
            <a:ext cx="10972800" cy="675622"/>
          </a:xfrm>
        </p:spPr>
        <p:txBody>
          <a:bodyPr>
            <a:noAutofit/>
          </a:bodyPr>
          <a:lstStyle/>
          <a:p>
            <a:r>
              <a:rPr lang="en-US"/>
              <a:t>Methods - Workflow</a:t>
            </a:r>
          </a:p>
        </p:txBody>
      </p:sp>
      <p:pic>
        <p:nvPicPr>
          <p:cNvPr id="5" name="Content Placeholder 4" descr="A diagram of a method&#10;&#10;AI-generated content may be incorrect.">
            <a:extLst>
              <a:ext uri="{FF2B5EF4-FFF2-40B4-BE49-F238E27FC236}">
                <a16:creationId xmlns:a16="http://schemas.microsoft.com/office/drawing/2014/main" id="{DB48C310-BF12-2384-7BB7-4B8D84CA2612}"/>
              </a:ext>
            </a:extLst>
          </p:cNvPr>
          <p:cNvPicPr>
            <a:picLocks noGrp="1" noChangeAspect="1"/>
          </p:cNvPicPr>
          <p:nvPr>
            <p:ph idx="1"/>
          </p:nvPr>
        </p:nvPicPr>
        <p:blipFill>
          <a:blip r:embed="rId3"/>
          <a:srcRect l="3315" t="71063" r="6077" b="9252"/>
          <a:stretch>
            <a:fillRect/>
          </a:stretch>
        </p:blipFill>
        <p:spPr>
          <a:xfrm>
            <a:off x="-1044" y="1874600"/>
            <a:ext cx="12662863" cy="1546118"/>
          </a:xfrm>
        </p:spPr>
      </p:pic>
      <p:sp>
        <p:nvSpPr>
          <p:cNvPr id="3" name="TextBox 2">
            <a:extLst>
              <a:ext uri="{FF2B5EF4-FFF2-40B4-BE49-F238E27FC236}">
                <a16:creationId xmlns:a16="http://schemas.microsoft.com/office/drawing/2014/main" id="{3FC6F03E-5833-CDD6-FE39-11CB1BC39C62}"/>
              </a:ext>
            </a:extLst>
          </p:cNvPr>
          <p:cNvSpPr txBox="1"/>
          <p:nvPr/>
        </p:nvSpPr>
        <p:spPr>
          <a:xfrm>
            <a:off x="2740034" y="4670067"/>
            <a:ext cx="360584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000"/>
              <a:t>SENSITIVITY </a:t>
            </a:r>
          </a:p>
        </p:txBody>
      </p:sp>
      <p:pic>
        <p:nvPicPr>
          <p:cNvPr id="4" name="Graphic 3" descr="Pie chart with solid fill">
            <a:extLst>
              <a:ext uri="{FF2B5EF4-FFF2-40B4-BE49-F238E27FC236}">
                <a16:creationId xmlns:a16="http://schemas.microsoft.com/office/drawing/2014/main" id="{9B95A2C1-1C5C-07AB-74BC-8623187F8C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6725" y="4006970"/>
            <a:ext cx="2050211" cy="2050211"/>
          </a:xfrm>
          <a:prstGeom prst="rect">
            <a:avLst/>
          </a:prstGeom>
        </p:spPr>
      </p:pic>
      <p:sp>
        <p:nvSpPr>
          <p:cNvPr id="6" name="Arrow: Curved Right 5">
            <a:extLst>
              <a:ext uri="{FF2B5EF4-FFF2-40B4-BE49-F238E27FC236}">
                <a16:creationId xmlns:a16="http://schemas.microsoft.com/office/drawing/2014/main" id="{2A7F61DB-FFED-93B8-44D7-8F1BBB4EB0D0}"/>
              </a:ext>
            </a:extLst>
          </p:cNvPr>
          <p:cNvSpPr/>
          <p:nvPr/>
        </p:nvSpPr>
        <p:spPr>
          <a:xfrm rot="14700000">
            <a:off x="2275495" y="5097336"/>
            <a:ext cx="472728" cy="171935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TextBox 8">
            <a:extLst>
              <a:ext uri="{FF2B5EF4-FFF2-40B4-BE49-F238E27FC236}">
                <a16:creationId xmlns:a16="http://schemas.microsoft.com/office/drawing/2014/main" id="{0B12DBF2-9129-6E87-84BB-77F39983740D}"/>
              </a:ext>
            </a:extLst>
          </p:cNvPr>
          <p:cNvSpPr txBox="1"/>
          <p:nvPr/>
        </p:nvSpPr>
        <p:spPr>
          <a:xfrm>
            <a:off x="5844875" y="4241321"/>
            <a:ext cx="52070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9600">
                <a:solidFill>
                  <a:schemeClr val="accent1"/>
                </a:solidFill>
              </a:rPr>
              <a:t>{</a:t>
            </a:r>
            <a:endParaRPr lang="en-GB" sz="8000">
              <a:solidFill>
                <a:schemeClr val="accent1"/>
              </a:solidFill>
            </a:endParaRPr>
          </a:p>
        </p:txBody>
      </p:sp>
      <p:pic>
        <p:nvPicPr>
          <p:cNvPr id="11" name="Graphic 10" descr="Arrow Down with solid fill">
            <a:extLst>
              <a:ext uri="{FF2B5EF4-FFF2-40B4-BE49-F238E27FC236}">
                <a16:creationId xmlns:a16="http://schemas.microsoft.com/office/drawing/2014/main" id="{B0E61613-4454-BC50-185C-794B1B6A71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08700" y="4660900"/>
            <a:ext cx="762000" cy="711200"/>
          </a:xfrm>
          <a:prstGeom prst="rect">
            <a:avLst/>
          </a:prstGeom>
        </p:spPr>
      </p:pic>
      <p:sp>
        <p:nvSpPr>
          <p:cNvPr id="12" name="TextBox 11">
            <a:extLst>
              <a:ext uri="{FF2B5EF4-FFF2-40B4-BE49-F238E27FC236}">
                <a16:creationId xmlns:a16="http://schemas.microsoft.com/office/drawing/2014/main" id="{9D48577C-8C02-F03E-8FBE-CA0CBEF1A881}"/>
              </a:ext>
            </a:extLst>
          </p:cNvPr>
          <p:cNvSpPr txBox="1"/>
          <p:nvPr/>
        </p:nvSpPr>
        <p:spPr>
          <a:xfrm>
            <a:off x="6870700" y="476250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a:solidFill>
                  <a:srgbClr val="EC4E70"/>
                </a:solidFill>
              </a:rPr>
              <a:t>False positives</a:t>
            </a:r>
          </a:p>
        </p:txBody>
      </p:sp>
      <p:pic>
        <p:nvPicPr>
          <p:cNvPr id="13" name="Graphic 12" descr="Arrow Down with solid fill">
            <a:extLst>
              <a:ext uri="{FF2B5EF4-FFF2-40B4-BE49-F238E27FC236}">
                <a16:creationId xmlns:a16="http://schemas.microsoft.com/office/drawing/2014/main" id="{E6FA2F73-DE93-92C3-10B8-82CEA6F7A2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10699" y="4673599"/>
            <a:ext cx="762000" cy="711200"/>
          </a:xfrm>
          <a:prstGeom prst="rect">
            <a:avLst/>
          </a:prstGeom>
        </p:spPr>
      </p:pic>
    </p:spTree>
    <p:extLst>
      <p:ext uri="{BB962C8B-B14F-4D97-AF65-F5344CB8AC3E}">
        <p14:creationId xmlns:p14="http://schemas.microsoft.com/office/powerpoint/2010/main" val="1218342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C3E2-E10E-559B-4340-AB1933AC4194}"/>
              </a:ext>
            </a:extLst>
          </p:cNvPr>
          <p:cNvSpPr>
            <a:spLocks noGrp="1"/>
          </p:cNvSpPr>
          <p:nvPr>
            <p:ph type="title"/>
          </p:nvPr>
        </p:nvSpPr>
        <p:spPr>
          <a:xfrm>
            <a:off x="609600" y="557784"/>
            <a:ext cx="10972800" cy="793601"/>
          </a:xfrm>
        </p:spPr>
        <p:txBody>
          <a:bodyPr/>
          <a:lstStyle/>
          <a:p>
            <a:r>
              <a:rPr lang="en-GB">
                <a:cs typeface="Posterama"/>
              </a:rPr>
              <a:t>Results – Biopsy feature selection </a:t>
            </a:r>
            <a:endParaRPr lang="en-US"/>
          </a:p>
        </p:txBody>
      </p:sp>
      <p:pic>
        <p:nvPicPr>
          <p:cNvPr id="4" name="图片 3" descr="Ảnh có chứa văn bản, biểu đồ, ảnh chụp màn hình, Hình chữ nhật&#10;&#10;Nội dung do AI tạo ra có thể không chính xác.">
            <a:extLst>
              <a:ext uri="{FF2B5EF4-FFF2-40B4-BE49-F238E27FC236}">
                <a16:creationId xmlns:a16="http://schemas.microsoft.com/office/drawing/2014/main" id="{240C10A0-AAFA-01A8-4393-F058912A71BF}"/>
              </a:ext>
            </a:extLst>
          </p:cNvPr>
          <p:cNvPicPr>
            <a:picLocks noChangeAspect="1"/>
          </p:cNvPicPr>
          <p:nvPr/>
        </p:nvPicPr>
        <p:blipFill>
          <a:blip r:embed="rId2"/>
          <a:srcRect l="2499" t="7547" r="-110" b="3129"/>
          <a:stretch>
            <a:fillRect/>
          </a:stretch>
        </p:blipFill>
        <p:spPr>
          <a:xfrm>
            <a:off x="1609817" y="1713276"/>
            <a:ext cx="8590607" cy="4565200"/>
          </a:xfrm>
          <a:prstGeom prst="rect">
            <a:avLst/>
          </a:prstGeom>
        </p:spPr>
      </p:pic>
      <p:sp>
        <p:nvSpPr>
          <p:cNvPr id="3" name="TextBox 2">
            <a:extLst>
              <a:ext uri="{FF2B5EF4-FFF2-40B4-BE49-F238E27FC236}">
                <a16:creationId xmlns:a16="http://schemas.microsoft.com/office/drawing/2014/main" id="{2C21FF2B-DD47-F462-708D-46927AB07CA9}"/>
              </a:ext>
            </a:extLst>
          </p:cNvPr>
          <p:cNvSpPr txBox="1"/>
          <p:nvPr/>
        </p:nvSpPr>
        <p:spPr>
          <a:xfrm>
            <a:off x="3974621" y="6279617"/>
            <a:ext cx="38646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Feature selection methods </a:t>
            </a:r>
            <a:endParaRPr lang="en-US" sz="2000" b="1">
              <a:solidFill>
                <a:schemeClr val="accent6"/>
              </a:solidFill>
            </a:endParaRPr>
          </a:p>
        </p:txBody>
      </p:sp>
      <p:sp>
        <p:nvSpPr>
          <p:cNvPr id="6" name="TextBox 5">
            <a:extLst>
              <a:ext uri="{FF2B5EF4-FFF2-40B4-BE49-F238E27FC236}">
                <a16:creationId xmlns:a16="http://schemas.microsoft.com/office/drawing/2014/main" id="{9698C798-D4B6-ED99-897D-0B48E972FD9F}"/>
              </a:ext>
            </a:extLst>
          </p:cNvPr>
          <p:cNvSpPr txBox="1"/>
          <p:nvPr/>
        </p:nvSpPr>
        <p:spPr>
          <a:xfrm rot="16200000">
            <a:off x="-1216335" y="3521934"/>
            <a:ext cx="47272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Area under curve (AUC</a:t>
            </a:r>
            <a:r>
              <a:rPr lang="en-US" sz="2000" b="1">
                <a:solidFill>
                  <a:schemeClr val="accent6"/>
                </a:solidFill>
              </a:rPr>
              <a:t>) </a:t>
            </a:r>
          </a:p>
        </p:txBody>
      </p:sp>
    </p:spTree>
    <p:extLst>
      <p:ext uri="{BB962C8B-B14F-4D97-AF65-F5344CB8AC3E}">
        <p14:creationId xmlns:p14="http://schemas.microsoft.com/office/powerpoint/2010/main" val="4078791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8AB12-0F94-9391-B24A-9F6914DAC94E}"/>
              </a:ext>
            </a:extLst>
          </p:cNvPr>
          <p:cNvSpPr>
            <a:spLocks noGrp="1"/>
          </p:cNvSpPr>
          <p:nvPr>
            <p:ph type="title"/>
          </p:nvPr>
        </p:nvSpPr>
        <p:spPr>
          <a:xfrm>
            <a:off x="609600" y="600916"/>
            <a:ext cx="10972800" cy="750469"/>
          </a:xfrm>
        </p:spPr>
        <p:txBody>
          <a:bodyPr>
            <a:normAutofit fontScale="90000"/>
          </a:bodyPr>
          <a:lstStyle/>
          <a:p>
            <a:r>
              <a:rPr lang="en-GB">
                <a:cs typeface="Posterama"/>
              </a:rPr>
              <a:t>Results – Blood feature selection </a:t>
            </a:r>
            <a:endParaRPr lang="en-GB">
              <a:solidFill>
                <a:srgbClr val="000000"/>
              </a:solidFill>
              <a:cs typeface="Posterama"/>
            </a:endParaRPr>
          </a:p>
        </p:txBody>
      </p:sp>
      <p:pic>
        <p:nvPicPr>
          <p:cNvPr id="4" name="图片 3">
            <a:extLst>
              <a:ext uri="{FF2B5EF4-FFF2-40B4-BE49-F238E27FC236}">
                <a16:creationId xmlns:a16="http://schemas.microsoft.com/office/drawing/2014/main" id="{EBE145F3-E967-9062-B226-B9D1955F47AE}"/>
              </a:ext>
            </a:extLst>
          </p:cNvPr>
          <p:cNvPicPr>
            <a:picLocks noChangeAspect="1"/>
          </p:cNvPicPr>
          <p:nvPr/>
        </p:nvPicPr>
        <p:blipFill>
          <a:blip r:embed="rId2"/>
          <a:srcRect t="8478" r="-224" b="3785"/>
          <a:stretch>
            <a:fillRect/>
          </a:stretch>
        </p:blipFill>
        <p:spPr>
          <a:xfrm>
            <a:off x="1941140" y="1542385"/>
            <a:ext cx="8627879" cy="4386134"/>
          </a:xfrm>
          <a:prstGeom prst="rect">
            <a:avLst/>
          </a:prstGeom>
        </p:spPr>
      </p:pic>
      <p:sp>
        <p:nvSpPr>
          <p:cNvPr id="8" name="TextBox 7">
            <a:extLst>
              <a:ext uri="{FF2B5EF4-FFF2-40B4-BE49-F238E27FC236}">
                <a16:creationId xmlns:a16="http://schemas.microsoft.com/office/drawing/2014/main" id="{783D5C0F-D60E-C12C-EB01-D80FF222C33A}"/>
              </a:ext>
            </a:extLst>
          </p:cNvPr>
          <p:cNvSpPr txBox="1"/>
          <p:nvPr/>
        </p:nvSpPr>
        <p:spPr>
          <a:xfrm>
            <a:off x="4328595" y="5934560"/>
            <a:ext cx="386463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Feature selection methods </a:t>
            </a:r>
            <a:endParaRPr lang="en-US" sz="2000" b="1">
              <a:solidFill>
                <a:schemeClr val="accent6"/>
              </a:solidFill>
            </a:endParaRPr>
          </a:p>
        </p:txBody>
      </p:sp>
      <p:sp>
        <p:nvSpPr>
          <p:cNvPr id="10" name="TextBox 9">
            <a:extLst>
              <a:ext uri="{FF2B5EF4-FFF2-40B4-BE49-F238E27FC236}">
                <a16:creationId xmlns:a16="http://schemas.microsoft.com/office/drawing/2014/main" id="{8A02F6FA-4487-885D-ED84-4A745CF8ACE4}"/>
              </a:ext>
            </a:extLst>
          </p:cNvPr>
          <p:cNvSpPr txBox="1"/>
          <p:nvPr/>
        </p:nvSpPr>
        <p:spPr>
          <a:xfrm rot="16200000">
            <a:off x="-756260" y="3421292"/>
            <a:ext cx="472727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Area under curve (AUC</a:t>
            </a:r>
            <a:r>
              <a:rPr lang="en-US" sz="2000" b="1">
                <a:solidFill>
                  <a:schemeClr val="accent6"/>
                </a:solidFill>
              </a:rPr>
              <a:t>) </a:t>
            </a:r>
          </a:p>
        </p:txBody>
      </p:sp>
    </p:spTree>
    <p:extLst>
      <p:ext uri="{BB962C8B-B14F-4D97-AF65-F5344CB8AC3E}">
        <p14:creationId xmlns:p14="http://schemas.microsoft.com/office/powerpoint/2010/main" val="605523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A8D9-AE33-2DDD-97C4-6BBFFECF0BC2}"/>
              </a:ext>
            </a:extLst>
          </p:cNvPr>
          <p:cNvSpPr>
            <a:spLocks noGrp="1"/>
          </p:cNvSpPr>
          <p:nvPr>
            <p:ph type="title"/>
          </p:nvPr>
        </p:nvSpPr>
        <p:spPr>
          <a:xfrm>
            <a:off x="609600" y="500274"/>
            <a:ext cx="10972800" cy="879865"/>
          </a:xfrm>
        </p:spPr>
        <p:txBody>
          <a:bodyPr/>
          <a:lstStyle/>
          <a:p>
            <a:r>
              <a:rPr lang="en-GB">
                <a:cs typeface="Posterama"/>
              </a:rPr>
              <a:t>Results – Biopsy model selection </a:t>
            </a:r>
            <a:endParaRPr lang="en-US">
              <a:solidFill>
                <a:srgbClr val="000000"/>
              </a:solidFill>
              <a:cs typeface="Posterama"/>
            </a:endParaRPr>
          </a:p>
        </p:txBody>
      </p:sp>
      <p:pic>
        <p:nvPicPr>
          <p:cNvPr id="6" name="图片 5">
            <a:extLst>
              <a:ext uri="{FF2B5EF4-FFF2-40B4-BE49-F238E27FC236}">
                <a16:creationId xmlns:a16="http://schemas.microsoft.com/office/drawing/2014/main" id="{E1B3BFA0-F85A-0EE3-57F3-E21C362363FF}"/>
              </a:ext>
            </a:extLst>
          </p:cNvPr>
          <p:cNvPicPr>
            <a:picLocks noChangeAspect="1"/>
          </p:cNvPicPr>
          <p:nvPr/>
        </p:nvPicPr>
        <p:blipFill>
          <a:blip r:embed="rId2"/>
          <a:srcRect l="2854" t="6308" b="5050"/>
          <a:stretch>
            <a:fillRect/>
          </a:stretch>
        </p:blipFill>
        <p:spPr>
          <a:xfrm>
            <a:off x="1625961" y="1391744"/>
            <a:ext cx="8983837" cy="4760855"/>
          </a:xfrm>
          <a:prstGeom prst="rect">
            <a:avLst/>
          </a:prstGeom>
        </p:spPr>
      </p:pic>
      <p:sp>
        <p:nvSpPr>
          <p:cNvPr id="4" name="TextBox 3">
            <a:extLst>
              <a:ext uri="{FF2B5EF4-FFF2-40B4-BE49-F238E27FC236}">
                <a16:creationId xmlns:a16="http://schemas.microsoft.com/office/drawing/2014/main" id="{6CA8372C-5E4C-DDCB-7B24-89AF356F0BCA}"/>
              </a:ext>
            </a:extLst>
          </p:cNvPr>
          <p:cNvSpPr txBox="1"/>
          <p:nvPr/>
        </p:nvSpPr>
        <p:spPr>
          <a:xfrm rot="-5400000">
            <a:off x="-272110" y="3489394"/>
            <a:ext cx="34333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Performance</a:t>
            </a:r>
            <a:endParaRPr lang="en-US" sz="2000" b="1">
              <a:solidFill>
                <a:schemeClr val="accent6"/>
              </a:solidFill>
            </a:endParaRPr>
          </a:p>
        </p:txBody>
      </p:sp>
      <p:sp>
        <p:nvSpPr>
          <p:cNvPr id="5" name="TextBox 4">
            <a:extLst>
              <a:ext uri="{FF2B5EF4-FFF2-40B4-BE49-F238E27FC236}">
                <a16:creationId xmlns:a16="http://schemas.microsoft.com/office/drawing/2014/main" id="{3E232D01-9F2F-0EF4-96E0-4333CBF5DF44}"/>
              </a:ext>
            </a:extLst>
          </p:cNvPr>
          <p:cNvSpPr txBox="1"/>
          <p:nvPr/>
        </p:nvSpPr>
        <p:spPr>
          <a:xfrm>
            <a:off x="4515171" y="6151918"/>
            <a:ext cx="320327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Model​</a:t>
            </a:r>
          </a:p>
        </p:txBody>
      </p:sp>
    </p:spTree>
    <p:extLst>
      <p:ext uri="{BB962C8B-B14F-4D97-AF65-F5344CB8AC3E}">
        <p14:creationId xmlns:p14="http://schemas.microsoft.com/office/powerpoint/2010/main" val="3627357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FC473-D246-F22F-122C-8CACA3AF7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6C501-39D7-C219-27EA-309E2CCAB67F}"/>
              </a:ext>
            </a:extLst>
          </p:cNvPr>
          <p:cNvSpPr>
            <a:spLocks noGrp="1"/>
          </p:cNvSpPr>
          <p:nvPr>
            <p:ph type="title"/>
          </p:nvPr>
        </p:nvSpPr>
        <p:spPr>
          <a:xfrm>
            <a:off x="710241" y="543406"/>
            <a:ext cx="10886536" cy="894243"/>
          </a:xfrm>
        </p:spPr>
        <p:txBody>
          <a:bodyPr/>
          <a:lstStyle/>
          <a:p>
            <a:r>
              <a:rPr lang="en-GB">
                <a:cs typeface="Posterama"/>
              </a:rPr>
              <a:t>Results – Blood model selection </a:t>
            </a:r>
            <a:endParaRPr lang="en-GB">
              <a:solidFill>
                <a:srgbClr val="000000"/>
              </a:solidFill>
              <a:cs typeface="Posterama"/>
            </a:endParaRPr>
          </a:p>
        </p:txBody>
      </p:sp>
      <p:pic>
        <p:nvPicPr>
          <p:cNvPr id="5" name="图片 4" descr="Ảnh có chứa văn bản, biểu đồ, Kế hoạch, số&#10;&#10;Nội dung do AI tạo ra có thể không chính xác.">
            <a:extLst>
              <a:ext uri="{FF2B5EF4-FFF2-40B4-BE49-F238E27FC236}">
                <a16:creationId xmlns:a16="http://schemas.microsoft.com/office/drawing/2014/main" id="{A6C687E2-462A-13B1-C047-A069C61A7BEA}"/>
              </a:ext>
            </a:extLst>
          </p:cNvPr>
          <p:cNvPicPr>
            <a:picLocks noChangeAspect="1"/>
          </p:cNvPicPr>
          <p:nvPr/>
        </p:nvPicPr>
        <p:blipFill>
          <a:blip r:embed="rId2"/>
          <a:srcRect l="2807" t="6619" r="-208" b="3935"/>
          <a:stretch>
            <a:fillRect/>
          </a:stretch>
        </p:blipFill>
        <p:spPr>
          <a:xfrm>
            <a:off x="1720228" y="1787946"/>
            <a:ext cx="8597908" cy="4507479"/>
          </a:xfrm>
          <a:prstGeom prst="rect">
            <a:avLst/>
          </a:prstGeom>
        </p:spPr>
      </p:pic>
      <p:sp>
        <p:nvSpPr>
          <p:cNvPr id="8" name="TextBox 7">
            <a:extLst>
              <a:ext uri="{FF2B5EF4-FFF2-40B4-BE49-F238E27FC236}">
                <a16:creationId xmlns:a16="http://schemas.microsoft.com/office/drawing/2014/main" id="{FF54EE10-F212-1E19-CD38-0AC68BEBD6DA}"/>
              </a:ext>
            </a:extLst>
          </p:cNvPr>
          <p:cNvSpPr txBox="1"/>
          <p:nvPr/>
        </p:nvSpPr>
        <p:spPr>
          <a:xfrm rot="-5400000">
            <a:off x="78811" y="3654546"/>
            <a:ext cx="288697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Performance</a:t>
            </a:r>
            <a:endParaRPr lang="en-US" sz="2000" b="1">
              <a:solidFill>
                <a:schemeClr val="accent6"/>
              </a:solidFill>
            </a:endParaRPr>
          </a:p>
        </p:txBody>
      </p:sp>
      <p:sp>
        <p:nvSpPr>
          <p:cNvPr id="10" name="TextBox 9">
            <a:extLst>
              <a:ext uri="{FF2B5EF4-FFF2-40B4-BE49-F238E27FC236}">
                <a16:creationId xmlns:a16="http://schemas.microsoft.com/office/drawing/2014/main" id="{E86BC9F1-63E0-E440-807F-560287D452DC}"/>
              </a:ext>
            </a:extLst>
          </p:cNvPr>
          <p:cNvSpPr txBox="1"/>
          <p:nvPr/>
        </p:nvSpPr>
        <p:spPr>
          <a:xfrm>
            <a:off x="4619597" y="6298531"/>
            <a:ext cx="2958860" cy="4144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000" b="1">
                <a:solidFill>
                  <a:schemeClr val="accent6"/>
                </a:solidFill>
              </a:rPr>
              <a:t>Model</a:t>
            </a:r>
          </a:p>
        </p:txBody>
      </p:sp>
    </p:spTree>
    <p:extLst>
      <p:ext uri="{BB962C8B-B14F-4D97-AF65-F5344CB8AC3E}">
        <p14:creationId xmlns:p14="http://schemas.microsoft.com/office/powerpoint/2010/main" val="2593272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D450-C06D-3737-0406-5864B97D94F2}"/>
              </a:ext>
            </a:extLst>
          </p:cNvPr>
          <p:cNvSpPr>
            <a:spLocks noGrp="1"/>
          </p:cNvSpPr>
          <p:nvPr>
            <p:ph type="title"/>
          </p:nvPr>
        </p:nvSpPr>
        <p:spPr/>
        <p:txBody>
          <a:bodyPr/>
          <a:lstStyle/>
          <a:p>
            <a:r>
              <a:rPr lang="en-AU">
                <a:cs typeface="Posterama"/>
              </a:rPr>
              <a:t>Discussion – limitations </a:t>
            </a:r>
            <a:endParaRPr lang="en-GB">
              <a:solidFill>
                <a:srgbClr val="000000"/>
              </a:solidFill>
              <a:cs typeface="Posterama"/>
            </a:endParaRPr>
          </a:p>
        </p:txBody>
      </p:sp>
      <p:sp>
        <p:nvSpPr>
          <p:cNvPr id="10" name="Text Placeholder 2">
            <a:extLst>
              <a:ext uri="{FF2B5EF4-FFF2-40B4-BE49-F238E27FC236}">
                <a16:creationId xmlns:a16="http://schemas.microsoft.com/office/drawing/2014/main" id="{7798091B-499E-5607-5720-83AD72DCDC45}"/>
              </a:ext>
            </a:extLst>
          </p:cNvPr>
          <p:cNvSpPr txBox="1">
            <a:spLocks/>
          </p:cNvSpPr>
          <p:nvPr/>
        </p:nvSpPr>
        <p:spPr>
          <a:xfrm>
            <a:off x="8124423" y="1918707"/>
            <a:ext cx="3602393" cy="823912"/>
          </a:xfrm>
          <a:prstGeom prst="rect">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Network theory </a:t>
            </a:r>
            <a:endParaRPr lang="en-US"/>
          </a:p>
        </p:txBody>
      </p:sp>
      <p:sp>
        <p:nvSpPr>
          <p:cNvPr id="11" name="Content Placeholder 3">
            <a:extLst>
              <a:ext uri="{FF2B5EF4-FFF2-40B4-BE49-F238E27FC236}">
                <a16:creationId xmlns:a16="http://schemas.microsoft.com/office/drawing/2014/main" id="{0DBAEC3D-033A-57C7-8E6E-584F393F0BA6}"/>
              </a:ext>
            </a:extLst>
          </p:cNvPr>
          <p:cNvSpPr txBox="1">
            <a:spLocks/>
          </p:cNvSpPr>
          <p:nvPr/>
        </p:nvSpPr>
        <p:spPr>
          <a:xfrm>
            <a:off x="8124423" y="2865822"/>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
        <p:nvSpPr>
          <p:cNvPr id="16" name="Text Placeholder 2">
            <a:extLst>
              <a:ext uri="{FF2B5EF4-FFF2-40B4-BE49-F238E27FC236}">
                <a16:creationId xmlns:a16="http://schemas.microsoft.com/office/drawing/2014/main" id="{3A317FD7-10D6-412E-4C88-63D85FF52EDB}"/>
              </a:ext>
            </a:extLst>
          </p:cNvPr>
          <p:cNvSpPr txBox="1">
            <a:spLocks/>
          </p:cNvSpPr>
          <p:nvPr/>
        </p:nvSpPr>
        <p:spPr>
          <a:xfrm>
            <a:off x="4335888" y="1929439"/>
            <a:ext cx="3602393" cy="823912"/>
          </a:xfrm>
          <a:prstGeom prst="rect">
            <a:avLst/>
          </a:prstGeom>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Duplicate gene symbols</a:t>
            </a:r>
          </a:p>
        </p:txBody>
      </p:sp>
      <p:sp>
        <p:nvSpPr>
          <p:cNvPr id="17" name="Content Placeholder 3">
            <a:extLst>
              <a:ext uri="{FF2B5EF4-FFF2-40B4-BE49-F238E27FC236}">
                <a16:creationId xmlns:a16="http://schemas.microsoft.com/office/drawing/2014/main" id="{2D328134-E9E5-159F-F221-3B414FF06F28}"/>
              </a:ext>
            </a:extLst>
          </p:cNvPr>
          <p:cNvSpPr txBox="1">
            <a:spLocks/>
          </p:cNvSpPr>
          <p:nvPr/>
        </p:nvSpPr>
        <p:spPr>
          <a:xfrm>
            <a:off x="4335888" y="2855959"/>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
        <p:nvSpPr>
          <p:cNvPr id="18" name="Text Placeholder 2">
            <a:extLst>
              <a:ext uri="{FF2B5EF4-FFF2-40B4-BE49-F238E27FC236}">
                <a16:creationId xmlns:a16="http://schemas.microsoft.com/office/drawing/2014/main" id="{06B0713E-8714-5109-EEF2-3A83742AC94F}"/>
              </a:ext>
            </a:extLst>
          </p:cNvPr>
          <p:cNvSpPr txBox="1">
            <a:spLocks/>
          </p:cNvSpPr>
          <p:nvPr/>
        </p:nvSpPr>
        <p:spPr>
          <a:xfrm>
            <a:off x="547352" y="1907974"/>
            <a:ext cx="3602393" cy="823912"/>
          </a:xfrm>
          <a:prstGeom prst="rect">
            <a:avLst/>
          </a:prstGeom>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Normalisation</a:t>
            </a:r>
            <a:endParaRPr lang="en-US"/>
          </a:p>
        </p:txBody>
      </p:sp>
      <p:sp>
        <p:nvSpPr>
          <p:cNvPr id="19" name="Content Placeholder 3">
            <a:extLst>
              <a:ext uri="{FF2B5EF4-FFF2-40B4-BE49-F238E27FC236}">
                <a16:creationId xmlns:a16="http://schemas.microsoft.com/office/drawing/2014/main" id="{BC00C5F8-EC18-8697-98A5-D6B5C99A30EE}"/>
              </a:ext>
            </a:extLst>
          </p:cNvPr>
          <p:cNvSpPr txBox="1">
            <a:spLocks/>
          </p:cNvSpPr>
          <p:nvPr/>
        </p:nvSpPr>
        <p:spPr>
          <a:xfrm>
            <a:off x="547352" y="2855089"/>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pic>
        <p:nvPicPr>
          <p:cNvPr id="20" name="Picture 19" descr="allies bell curve to embrace equity">
            <a:extLst>
              <a:ext uri="{FF2B5EF4-FFF2-40B4-BE49-F238E27FC236}">
                <a16:creationId xmlns:a16="http://schemas.microsoft.com/office/drawing/2014/main" id="{C832FEFA-A1EC-B385-E565-C5792369DD49}"/>
              </a:ext>
            </a:extLst>
          </p:cNvPr>
          <p:cNvPicPr>
            <a:picLocks noChangeAspect="1"/>
          </p:cNvPicPr>
          <p:nvPr/>
        </p:nvPicPr>
        <p:blipFill>
          <a:blip r:embed="rId2"/>
          <a:stretch>
            <a:fillRect/>
          </a:stretch>
        </p:blipFill>
        <p:spPr>
          <a:xfrm>
            <a:off x="835919" y="2875679"/>
            <a:ext cx="3028950" cy="1514475"/>
          </a:xfrm>
          <a:prstGeom prst="rect">
            <a:avLst/>
          </a:prstGeom>
        </p:spPr>
      </p:pic>
      <p:pic>
        <p:nvPicPr>
          <p:cNvPr id="21" name="Graphic 20" descr="Arrow Down with solid fill">
            <a:extLst>
              <a:ext uri="{FF2B5EF4-FFF2-40B4-BE49-F238E27FC236}">
                <a16:creationId xmlns:a16="http://schemas.microsoft.com/office/drawing/2014/main" id="{8AD08FC3-5F84-51C2-E727-19FA70B62F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5827441" y="3157991"/>
            <a:ext cx="812337" cy="910263"/>
          </a:xfrm>
          <a:prstGeom prst="rect">
            <a:avLst/>
          </a:prstGeom>
        </p:spPr>
      </p:pic>
      <p:pic>
        <p:nvPicPr>
          <p:cNvPr id="23" name="Graphic 22" descr="Table with solid fill">
            <a:extLst>
              <a:ext uri="{FF2B5EF4-FFF2-40B4-BE49-F238E27FC236}">
                <a16:creationId xmlns:a16="http://schemas.microsoft.com/office/drawing/2014/main" id="{FB9F4FC2-DD37-5AAA-57A2-AAB2C248F3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35487" y="2733491"/>
            <a:ext cx="795647" cy="825335"/>
          </a:xfrm>
          <a:prstGeom prst="rect">
            <a:avLst/>
          </a:prstGeom>
        </p:spPr>
      </p:pic>
      <p:pic>
        <p:nvPicPr>
          <p:cNvPr id="24" name="Graphic 23" descr="Table with solid fill">
            <a:extLst>
              <a:ext uri="{FF2B5EF4-FFF2-40B4-BE49-F238E27FC236}">
                <a16:creationId xmlns:a16="http://schemas.microsoft.com/office/drawing/2014/main" id="{5D0B60C3-70B7-187C-2166-363F8497634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27175" y="2961101"/>
            <a:ext cx="666998" cy="676894"/>
          </a:xfrm>
          <a:prstGeom prst="rect">
            <a:avLst/>
          </a:prstGeom>
        </p:spPr>
      </p:pic>
      <p:pic>
        <p:nvPicPr>
          <p:cNvPr id="25" name="Graphic 24" descr="Table with solid fill">
            <a:extLst>
              <a:ext uri="{FF2B5EF4-FFF2-40B4-BE49-F238E27FC236}">
                <a16:creationId xmlns:a16="http://schemas.microsoft.com/office/drawing/2014/main" id="{7662E308-FC9B-FCB4-0DB5-360A069E8A1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4136" y="3337152"/>
            <a:ext cx="666998" cy="676894"/>
          </a:xfrm>
          <a:prstGeom prst="rect">
            <a:avLst/>
          </a:prstGeom>
        </p:spPr>
      </p:pic>
      <p:pic>
        <p:nvPicPr>
          <p:cNvPr id="26" name="Graphic 25" descr="Table with solid fill">
            <a:extLst>
              <a:ext uri="{FF2B5EF4-FFF2-40B4-BE49-F238E27FC236}">
                <a16:creationId xmlns:a16="http://schemas.microsoft.com/office/drawing/2014/main" id="{65400688-BE5F-B4C4-93B5-D7D8894557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7174" y="3614243"/>
            <a:ext cx="459180" cy="666998"/>
          </a:xfrm>
          <a:prstGeom prst="rect">
            <a:avLst/>
          </a:prstGeom>
        </p:spPr>
      </p:pic>
      <p:pic>
        <p:nvPicPr>
          <p:cNvPr id="27" name="Graphic 26" descr="Table with solid fill">
            <a:extLst>
              <a:ext uri="{FF2B5EF4-FFF2-40B4-BE49-F238E27FC236}">
                <a16:creationId xmlns:a16="http://schemas.microsoft.com/office/drawing/2014/main" id="{79F367AB-4D58-7038-2723-BCB8A1BAA51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99811" y="3831479"/>
            <a:ext cx="666998" cy="676894"/>
          </a:xfrm>
          <a:prstGeom prst="rect">
            <a:avLst/>
          </a:prstGeom>
        </p:spPr>
      </p:pic>
      <p:pic>
        <p:nvPicPr>
          <p:cNvPr id="29" name="Graphic 28" descr="Table with solid fill">
            <a:extLst>
              <a:ext uri="{FF2B5EF4-FFF2-40B4-BE49-F238E27FC236}">
                <a16:creationId xmlns:a16="http://schemas.microsoft.com/office/drawing/2014/main" id="{87E7303E-ACE1-5E27-2651-3A3509916E2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702651" y="3042183"/>
            <a:ext cx="666998" cy="676894"/>
          </a:xfrm>
          <a:prstGeom prst="rect">
            <a:avLst/>
          </a:prstGeom>
        </p:spPr>
      </p:pic>
      <p:pic>
        <p:nvPicPr>
          <p:cNvPr id="30" name="Graphic 29" descr="Table with solid fill">
            <a:extLst>
              <a:ext uri="{FF2B5EF4-FFF2-40B4-BE49-F238E27FC236}">
                <a16:creationId xmlns:a16="http://schemas.microsoft.com/office/drawing/2014/main" id="{EA96043C-B8DA-9338-87BE-7211AC4A7B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65689" y="3319274"/>
            <a:ext cx="459180" cy="666998"/>
          </a:xfrm>
          <a:prstGeom prst="rect">
            <a:avLst/>
          </a:prstGeom>
        </p:spPr>
      </p:pic>
      <p:pic>
        <p:nvPicPr>
          <p:cNvPr id="31" name="Graphic 30" descr="Table with solid fill">
            <a:extLst>
              <a:ext uri="{FF2B5EF4-FFF2-40B4-BE49-F238E27FC236}">
                <a16:creationId xmlns:a16="http://schemas.microsoft.com/office/drawing/2014/main" id="{009FC3D1-E52C-CCAB-55FD-BDD0FE7AE60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38326" y="3536510"/>
            <a:ext cx="666998" cy="676894"/>
          </a:xfrm>
          <a:prstGeom prst="rect">
            <a:avLst/>
          </a:prstGeom>
        </p:spPr>
      </p:pic>
      <p:cxnSp>
        <p:nvCxnSpPr>
          <p:cNvPr id="32" name="Straight Arrow Connector 31">
            <a:extLst>
              <a:ext uri="{FF2B5EF4-FFF2-40B4-BE49-F238E27FC236}">
                <a16:creationId xmlns:a16="http://schemas.microsoft.com/office/drawing/2014/main" id="{61B6C106-62CA-ABFE-470D-5333A95BE07C}"/>
              </a:ext>
            </a:extLst>
          </p:cNvPr>
          <p:cNvCxnSpPr/>
          <p:nvPr/>
        </p:nvCxnSpPr>
        <p:spPr>
          <a:xfrm>
            <a:off x="6920440" y="3546213"/>
            <a:ext cx="32425" cy="13780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60D00B6-BCB7-7EB7-4B6D-A62C1AE40E37}"/>
              </a:ext>
            </a:extLst>
          </p:cNvPr>
          <p:cNvCxnSpPr>
            <a:cxnSpLocks/>
          </p:cNvCxnSpPr>
          <p:nvPr/>
        </p:nvCxnSpPr>
        <p:spPr>
          <a:xfrm flipV="1">
            <a:off x="7207987" y="3730748"/>
            <a:ext cx="197764" cy="88635"/>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AF56611-4EA6-7F4C-918C-BF7182AEA981}"/>
              </a:ext>
            </a:extLst>
          </p:cNvPr>
          <p:cNvCxnSpPr>
            <a:cxnSpLocks/>
          </p:cNvCxnSpPr>
          <p:nvPr/>
        </p:nvCxnSpPr>
        <p:spPr>
          <a:xfrm>
            <a:off x="7323005" y="3402438"/>
            <a:ext cx="79152" cy="101865"/>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0E45EF08-07A6-D125-68C7-11DC93FD2BA4}"/>
              </a:ext>
            </a:extLst>
          </p:cNvPr>
          <p:cNvSpPr txBox="1"/>
          <p:nvPr/>
        </p:nvSpPr>
        <p:spPr>
          <a:xfrm>
            <a:off x="1096624" y="5492955"/>
            <a:ext cx="2513681" cy="3693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Remove patterns </a:t>
            </a:r>
            <a:endParaRPr lang="en-US"/>
          </a:p>
        </p:txBody>
      </p:sp>
      <p:sp>
        <p:nvSpPr>
          <p:cNvPr id="38" name="TextBox 37">
            <a:extLst>
              <a:ext uri="{FF2B5EF4-FFF2-40B4-BE49-F238E27FC236}">
                <a16:creationId xmlns:a16="http://schemas.microsoft.com/office/drawing/2014/main" id="{933B9FFC-8147-7BF7-D448-A51AAA526D52}"/>
              </a:ext>
            </a:extLst>
          </p:cNvPr>
          <p:cNvSpPr txBox="1"/>
          <p:nvPr/>
        </p:nvSpPr>
        <p:spPr>
          <a:xfrm>
            <a:off x="4879081" y="5492954"/>
            <a:ext cx="2513681" cy="3693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Not generalisable </a:t>
            </a:r>
            <a:endParaRPr lang="en-US"/>
          </a:p>
        </p:txBody>
      </p:sp>
      <p:sp>
        <p:nvSpPr>
          <p:cNvPr id="40" name="TextBox 39">
            <a:extLst>
              <a:ext uri="{FF2B5EF4-FFF2-40B4-BE49-F238E27FC236}">
                <a16:creationId xmlns:a16="http://schemas.microsoft.com/office/drawing/2014/main" id="{B3328427-F990-691D-FF90-BEA0AA54B34B}"/>
              </a:ext>
            </a:extLst>
          </p:cNvPr>
          <p:cNvSpPr txBox="1"/>
          <p:nvPr/>
        </p:nvSpPr>
        <p:spPr>
          <a:xfrm>
            <a:off x="8685097" y="5492954"/>
            <a:ext cx="2513681" cy="3693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Biological significance </a:t>
            </a:r>
            <a:endParaRPr lang="en-US"/>
          </a:p>
        </p:txBody>
      </p:sp>
      <p:sp>
        <p:nvSpPr>
          <p:cNvPr id="41" name="Equals 40">
            <a:extLst>
              <a:ext uri="{FF2B5EF4-FFF2-40B4-BE49-F238E27FC236}">
                <a16:creationId xmlns:a16="http://schemas.microsoft.com/office/drawing/2014/main" id="{FD8702C5-1B1B-42CD-63D2-971510AA8C6D}"/>
              </a:ext>
            </a:extLst>
          </p:cNvPr>
          <p:cNvSpPr/>
          <p:nvPr/>
        </p:nvSpPr>
        <p:spPr>
          <a:xfrm>
            <a:off x="1899497" y="4510473"/>
            <a:ext cx="914400" cy="914400"/>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2" name="Equals 41">
            <a:extLst>
              <a:ext uri="{FF2B5EF4-FFF2-40B4-BE49-F238E27FC236}">
                <a16:creationId xmlns:a16="http://schemas.microsoft.com/office/drawing/2014/main" id="{9C97D6F1-D59B-7004-409E-C4E19427933F}"/>
              </a:ext>
            </a:extLst>
          </p:cNvPr>
          <p:cNvSpPr/>
          <p:nvPr/>
        </p:nvSpPr>
        <p:spPr>
          <a:xfrm>
            <a:off x="5681954" y="4510472"/>
            <a:ext cx="914400" cy="914400"/>
          </a:xfrm>
          <a:prstGeom prst="mathEqual">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3" name="Graphic 12" descr="Connections with solid fill">
            <a:extLst>
              <a:ext uri="{FF2B5EF4-FFF2-40B4-BE49-F238E27FC236}">
                <a16:creationId xmlns:a16="http://schemas.microsoft.com/office/drawing/2014/main" id="{41629FA2-65A7-255E-53DA-CB4246F9480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399253" y="3144328"/>
            <a:ext cx="1532626" cy="1475117"/>
          </a:xfrm>
          <a:prstGeom prst="rect">
            <a:avLst/>
          </a:prstGeom>
        </p:spPr>
      </p:pic>
      <p:pic>
        <p:nvPicPr>
          <p:cNvPr id="14" name="Graphic 13" descr="Connections with solid fill">
            <a:extLst>
              <a:ext uri="{FF2B5EF4-FFF2-40B4-BE49-F238E27FC236}">
                <a16:creationId xmlns:a16="http://schemas.microsoft.com/office/drawing/2014/main" id="{F0B6C543-855B-16C3-37A7-35E8D66C366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822611" y="2828026"/>
            <a:ext cx="1532626" cy="1475117"/>
          </a:xfrm>
          <a:prstGeom prst="rect">
            <a:avLst/>
          </a:prstGeom>
        </p:spPr>
      </p:pic>
      <p:sp>
        <p:nvSpPr>
          <p:cNvPr id="15" name="Not Equal 14">
            <a:extLst>
              <a:ext uri="{FF2B5EF4-FFF2-40B4-BE49-F238E27FC236}">
                <a16:creationId xmlns:a16="http://schemas.microsoft.com/office/drawing/2014/main" id="{FD3D7FC1-9303-D8AD-D6E2-1C1039CD183A}"/>
              </a:ext>
            </a:extLst>
          </p:cNvPr>
          <p:cNvSpPr/>
          <p:nvPr/>
        </p:nvSpPr>
        <p:spPr>
          <a:xfrm>
            <a:off x="9392226" y="4504178"/>
            <a:ext cx="1187570" cy="785005"/>
          </a:xfrm>
          <a:prstGeom prst="mathNot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167974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88CE-7B76-150C-9E04-3C0C340EE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93F09-1DA2-2153-F6FF-60E134EADFEB}"/>
              </a:ext>
            </a:extLst>
          </p:cNvPr>
          <p:cNvSpPr>
            <a:spLocks noGrp="1"/>
          </p:cNvSpPr>
          <p:nvPr>
            <p:ph type="title"/>
          </p:nvPr>
        </p:nvSpPr>
        <p:spPr/>
        <p:txBody>
          <a:bodyPr/>
          <a:lstStyle/>
          <a:p>
            <a:r>
              <a:rPr lang="en-AU">
                <a:cs typeface="Posterama"/>
              </a:rPr>
              <a:t>Discussion – validity</a:t>
            </a:r>
            <a:endParaRPr lang="en-GB">
              <a:solidFill>
                <a:srgbClr val="000000"/>
              </a:solidFill>
              <a:cs typeface="Posterama"/>
            </a:endParaRPr>
          </a:p>
        </p:txBody>
      </p:sp>
      <p:sp>
        <p:nvSpPr>
          <p:cNvPr id="10" name="Text Placeholder 2">
            <a:extLst>
              <a:ext uri="{FF2B5EF4-FFF2-40B4-BE49-F238E27FC236}">
                <a16:creationId xmlns:a16="http://schemas.microsoft.com/office/drawing/2014/main" id="{EE419EA6-5366-A3A3-3A56-00F4D7CA2B03}"/>
              </a:ext>
            </a:extLst>
          </p:cNvPr>
          <p:cNvSpPr txBox="1">
            <a:spLocks/>
          </p:cNvSpPr>
          <p:nvPr/>
        </p:nvSpPr>
        <p:spPr>
          <a:xfrm>
            <a:off x="8124423" y="1918707"/>
            <a:ext cx="3602393" cy="823912"/>
          </a:xfrm>
          <a:prstGeom prst="rect">
            <a:avLst/>
          </a:prstGeom>
          <a:ln/>
        </p:spPr>
        <p:style>
          <a:lnRef idx="2">
            <a:schemeClr val="accent3"/>
          </a:lnRef>
          <a:fillRef idx="1">
            <a:schemeClr val="lt1"/>
          </a:fillRef>
          <a:effectRef idx="0">
            <a:schemeClr val="accent3"/>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Evaluation Integrity</a:t>
            </a:r>
          </a:p>
        </p:txBody>
      </p:sp>
      <p:sp>
        <p:nvSpPr>
          <p:cNvPr id="11" name="Content Placeholder 3">
            <a:extLst>
              <a:ext uri="{FF2B5EF4-FFF2-40B4-BE49-F238E27FC236}">
                <a16:creationId xmlns:a16="http://schemas.microsoft.com/office/drawing/2014/main" id="{AD91399D-0B0F-B00D-3870-137E74A4D775}"/>
              </a:ext>
            </a:extLst>
          </p:cNvPr>
          <p:cNvSpPr txBox="1">
            <a:spLocks/>
          </p:cNvSpPr>
          <p:nvPr/>
        </p:nvSpPr>
        <p:spPr>
          <a:xfrm>
            <a:off x="8124423" y="2865822"/>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
        <p:nvSpPr>
          <p:cNvPr id="16" name="Text Placeholder 2">
            <a:extLst>
              <a:ext uri="{FF2B5EF4-FFF2-40B4-BE49-F238E27FC236}">
                <a16:creationId xmlns:a16="http://schemas.microsoft.com/office/drawing/2014/main" id="{B421ED24-6C1D-9307-11CB-7C35B80B1CC6}"/>
              </a:ext>
            </a:extLst>
          </p:cNvPr>
          <p:cNvSpPr txBox="1">
            <a:spLocks/>
          </p:cNvSpPr>
          <p:nvPr/>
        </p:nvSpPr>
        <p:spPr>
          <a:xfrm>
            <a:off x="4335888" y="1929439"/>
            <a:ext cx="3602393" cy="823912"/>
          </a:xfrm>
          <a:prstGeom prst="rect">
            <a:avLst/>
          </a:prstGeom>
          <a:ln/>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Network Validity</a:t>
            </a:r>
            <a:endParaRPr lang="en-US"/>
          </a:p>
        </p:txBody>
      </p:sp>
      <p:sp>
        <p:nvSpPr>
          <p:cNvPr id="17" name="Content Placeholder 3">
            <a:extLst>
              <a:ext uri="{FF2B5EF4-FFF2-40B4-BE49-F238E27FC236}">
                <a16:creationId xmlns:a16="http://schemas.microsoft.com/office/drawing/2014/main" id="{6ABD3F17-928F-BBF8-B8D0-1F6B09DD6748}"/>
              </a:ext>
            </a:extLst>
          </p:cNvPr>
          <p:cNvSpPr txBox="1">
            <a:spLocks/>
          </p:cNvSpPr>
          <p:nvPr/>
        </p:nvSpPr>
        <p:spPr>
          <a:xfrm>
            <a:off x="4335888" y="2855959"/>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
        <p:nvSpPr>
          <p:cNvPr id="18" name="Text Placeholder 2">
            <a:extLst>
              <a:ext uri="{FF2B5EF4-FFF2-40B4-BE49-F238E27FC236}">
                <a16:creationId xmlns:a16="http://schemas.microsoft.com/office/drawing/2014/main" id="{50CA702C-D2E3-875D-422C-0A2D59B9FBC9}"/>
              </a:ext>
            </a:extLst>
          </p:cNvPr>
          <p:cNvSpPr txBox="1">
            <a:spLocks/>
          </p:cNvSpPr>
          <p:nvPr/>
        </p:nvSpPr>
        <p:spPr>
          <a:xfrm>
            <a:off x="547352" y="1907974"/>
            <a:ext cx="3602393" cy="823912"/>
          </a:xfrm>
          <a:prstGeom prst="rect">
            <a:avLst/>
          </a:prstGeom>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400" b="0" i="0" kern="1200">
                <a:solidFill>
                  <a:schemeClr val="tx1"/>
                </a:solidFill>
                <a:latin typeface="+mn-lt"/>
                <a:ea typeface="+mn-ea"/>
                <a:cs typeface="+mn-cs"/>
              </a:defRPr>
            </a:lvl1pPr>
            <a:lvl2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Clr>
                <a:schemeClr val="accent5"/>
              </a:buClr>
              <a:buFont typeface="Avenir Next LT Pro" panose="020B05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GB"/>
              <a:t>Data Handling</a:t>
            </a:r>
            <a:endParaRPr lang="en-US"/>
          </a:p>
        </p:txBody>
      </p:sp>
      <p:sp>
        <p:nvSpPr>
          <p:cNvPr id="19" name="Content Placeholder 3">
            <a:extLst>
              <a:ext uri="{FF2B5EF4-FFF2-40B4-BE49-F238E27FC236}">
                <a16:creationId xmlns:a16="http://schemas.microsoft.com/office/drawing/2014/main" id="{662EAC99-D939-D0AB-17A6-4DC7E7B62E17}"/>
              </a:ext>
            </a:extLst>
          </p:cNvPr>
          <p:cNvSpPr txBox="1">
            <a:spLocks/>
          </p:cNvSpPr>
          <p:nvPr/>
        </p:nvSpPr>
        <p:spPr>
          <a:xfrm>
            <a:off x="547352" y="2855089"/>
            <a:ext cx="3602393" cy="3347452"/>
          </a:xfrm>
          <a:prstGeom prst="rect">
            <a:avLst/>
          </a:prstGeom>
          <a:ln>
            <a:solidFill>
              <a:schemeClr val="tx1"/>
            </a:solidFill>
            <a:prstDash val="dash"/>
          </a:ln>
        </p:spPr>
        <p:txBody>
          <a:bodyPr vert="horz" lIns="91440" tIns="45720" rIns="91440" bIns="45720" rtlCol="0" anchor="t">
            <a:normAutofit/>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cxnSp>
        <p:nvCxnSpPr>
          <p:cNvPr id="32" name="Straight Arrow Connector 31">
            <a:extLst>
              <a:ext uri="{FF2B5EF4-FFF2-40B4-BE49-F238E27FC236}">
                <a16:creationId xmlns:a16="http://schemas.microsoft.com/office/drawing/2014/main" id="{D8327A21-FFB3-3152-65F1-2342126BE562}"/>
              </a:ext>
            </a:extLst>
          </p:cNvPr>
          <p:cNvCxnSpPr/>
          <p:nvPr/>
        </p:nvCxnSpPr>
        <p:spPr>
          <a:xfrm>
            <a:off x="6920440" y="3546213"/>
            <a:ext cx="32425" cy="137808"/>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A56BD3D-BFBC-F883-9742-58CED4CDBC0B}"/>
              </a:ext>
            </a:extLst>
          </p:cNvPr>
          <p:cNvCxnSpPr>
            <a:cxnSpLocks/>
          </p:cNvCxnSpPr>
          <p:nvPr/>
        </p:nvCxnSpPr>
        <p:spPr>
          <a:xfrm flipV="1">
            <a:off x="7207987" y="3730748"/>
            <a:ext cx="197764" cy="88635"/>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0AC557A-A884-0797-B622-EFF1EDADCC5C}"/>
              </a:ext>
            </a:extLst>
          </p:cNvPr>
          <p:cNvCxnSpPr>
            <a:cxnSpLocks/>
          </p:cNvCxnSpPr>
          <p:nvPr/>
        </p:nvCxnSpPr>
        <p:spPr>
          <a:xfrm>
            <a:off x="7323005" y="3402438"/>
            <a:ext cx="79152" cy="101865"/>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DDD619C-3967-1F7F-6E85-9C4A4516C725}"/>
              </a:ext>
            </a:extLst>
          </p:cNvPr>
          <p:cNvSpPr txBox="1"/>
          <p:nvPr/>
        </p:nvSpPr>
        <p:spPr>
          <a:xfrm>
            <a:off x="1096624" y="5354456"/>
            <a:ext cx="2513681" cy="64633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Clear training-testing split</a:t>
            </a:r>
            <a:endParaRPr lang="en-US"/>
          </a:p>
        </p:txBody>
      </p:sp>
      <p:cxnSp>
        <p:nvCxnSpPr>
          <p:cNvPr id="37" name="Straight Arrow Connector 36">
            <a:extLst>
              <a:ext uri="{FF2B5EF4-FFF2-40B4-BE49-F238E27FC236}">
                <a16:creationId xmlns:a16="http://schemas.microsoft.com/office/drawing/2014/main" id="{F0460B35-C6A5-F15A-3EDE-5EC63AF2A483}"/>
              </a:ext>
            </a:extLst>
          </p:cNvPr>
          <p:cNvCxnSpPr>
            <a:cxnSpLocks/>
          </p:cNvCxnSpPr>
          <p:nvPr/>
        </p:nvCxnSpPr>
        <p:spPr>
          <a:xfrm>
            <a:off x="7508006" y="4133779"/>
            <a:ext cx="32425" cy="137808"/>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E592E12-FBDB-7889-8CDC-F64C77E10851}"/>
              </a:ext>
            </a:extLst>
          </p:cNvPr>
          <p:cNvSpPr txBox="1"/>
          <p:nvPr/>
        </p:nvSpPr>
        <p:spPr>
          <a:xfrm>
            <a:off x="4879081" y="5354455"/>
            <a:ext cx="2513681" cy="64633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WGCNA meets scale-free criteria</a:t>
            </a:r>
            <a:endParaRPr lang="en-US"/>
          </a:p>
        </p:txBody>
      </p:sp>
      <p:sp>
        <p:nvSpPr>
          <p:cNvPr id="40" name="TextBox 39">
            <a:extLst>
              <a:ext uri="{FF2B5EF4-FFF2-40B4-BE49-F238E27FC236}">
                <a16:creationId xmlns:a16="http://schemas.microsoft.com/office/drawing/2014/main" id="{C21EBBBD-B028-DD89-DF8F-CFEF917C23A3}"/>
              </a:ext>
            </a:extLst>
          </p:cNvPr>
          <p:cNvSpPr txBox="1"/>
          <p:nvPr/>
        </p:nvSpPr>
        <p:spPr>
          <a:xfrm>
            <a:off x="8685097" y="5354455"/>
            <a:ext cx="2513681" cy="64633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GB"/>
              <a:t>Metrics from untouched test set</a:t>
            </a:r>
            <a:endParaRPr lang="en-US"/>
          </a:p>
        </p:txBody>
      </p:sp>
      <p:pic>
        <p:nvPicPr>
          <p:cNvPr id="4" name="Graphic 3" descr="Social network with solid fill">
            <a:extLst>
              <a:ext uri="{FF2B5EF4-FFF2-40B4-BE49-F238E27FC236}">
                <a16:creationId xmlns:a16="http://schemas.microsoft.com/office/drawing/2014/main" id="{F6AAF6D6-643D-C473-410F-CEF10E26A9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56352" y="3025403"/>
            <a:ext cx="2123090" cy="1930401"/>
          </a:xfrm>
          <a:prstGeom prst="rect">
            <a:avLst/>
          </a:prstGeom>
        </p:spPr>
      </p:pic>
      <p:pic>
        <p:nvPicPr>
          <p:cNvPr id="5" name="Graphic 4" descr="Checkmark with solid fill">
            <a:extLst>
              <a:ext uri="{FF2B5EF4-FFF2-40B4-BE49-F238E27FC236}">
                <a16:creationId xmlns:a16="http://schemas.microsoft.com/office/drawing/2014/main" id="{145A5A07-5197-98B2-B6C1-A36DDFF580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2524" y="3619938"/>
            <a:ext cx="826813" cy="861848"/>
          </a:xfrm>
          <a:prstGeom prst="rect">
            <a:avLst/>
          </a:prstGeom>
        </p:spPr>
      </p:pic>
      <p:pic>
        <p:nvPicPr>
          <p:cNvPr id="6" name="Picture 5" descr="A group of balls from strings&#10;&#10;AI-generated content may be incorrect.">
            <a:extLst>
              <a:ext uri="{FF2B5EF4-FFF2-40B4-BE49-F238E27FC236}">
                <a16:creationId xmlns:a16="http://schemas.microsoft.com/office/drawing/2014/main" id="{47853F5C-1162-FCC2-25B3-190470D32C21}"/>
              </a:ext>
            </a:extLst>
          </p:cNvPr>
          <p:cNvPicPr>
            <a:picLocks noChangeAspect="1"/>
          </p:cNvPicPr>
          <p:nvPr/>
        </p:nvPicPr>
        <p:blipFill>
          <a:blip r:embed="rId6"/>
          <a:stretch>
            <a:fillRect/>
          </a:stretch>
        </p:blipFill>
        <p:spPr>
          <a:xfrm>
            <a:off x="1042385" y="3285359"/>
            <a:ext cx="2609850" cy="1828800"/>
          </a:xfrm>
          <a:prstGeom prst="rect">
            <a:avLst/>
          </a:prstGeom>
        </p:spPr>
      </p:pic>
      <p:pic>
        <p:nvPicPr>
          <p:cNvPr id="7" name="Graphic 6" descr="Lock with solid fill">
            <a:extLst>
              <a:ext uri="{FF2B5EF4-FFF2-40B4-BE49-F238E27FC236}">
                <a16:creationId xmlns:a16="http://schemas.microsoft.com/office/drawing/2014/main" id="{8F8D32E7-D04F-35BC-5E6C-D7B93C0231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94730" y="3795111"/>
            <a:ext cx="914400" cy="914400"/>
          </a:xfrm>
          <a:prstGeom prst="rect">
            <a:avLst/>
          </a:prstGeom>
        </p:spPr>
      </p:pic>
      <p:pic>
        <p:nvPicPr>
          <p:cNvPr id="8" name="Graphic 7" descr="Test tubes with solid fill">
            <a:extLst>
              <a:ext uri="{FF2B5EF4-FFF2-40B4-BE49-F238E27FC236}">
                <a16:creationId xmlns:a16="http://schemas.microsoft.com/office/drawing/2014/main" id="{5435B19F-9FB7-3C40-B290-0C1637D4889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00663" y="3795111"/>
            <a:ext cx="914400" cy="914400"/>
          </a:xfrm>
          <a:prstGeom prst="rect">
            <a:avLst/>
          </a:prstGeom>
        </p:spPr>
      </p:pic>
      <p:sp>
        <p:nvSpPr>
          <p:cNvPr id="28" name="Equals 27">
            <a:extLst>
              <a:ext uri="{FF2B5EF4-FFF2-40B4-BE49-F238E27FC236}">
                <a16:creationId xmlns:a16="http://schemas.microsoft.com/office/drawing/2014/main" id="{9DC22B09-763C-1864-3150-76B2CCED8F2A}"/>
              </a:ext>
            </a:extLst>
          </p:cNvPr>
          <p:cNvSpPr/>
          <p:nvPr/>
        </p:nvSpPr>
        <p:spPr>
          <a:xfrm>
            <a:off x="9817290" y="3993714"/>
            <a:ext cx="581572" cy="520263"/>
          </a:xfrm>
          <a:prstGeom prst="mathEqual">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217003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C08AD-C3A9-E0E2-2D5B-03D3C4B4575B}"/>
              </a:ext>
            </a:extLst>
          </p:cNvPr>
          <p:cNvSpPr>
            <a:spLocks noGrp="1"/>
          </p:cNvSpPr>
          <p:nvPr>
            <p:ph type="title"/>
          </p:nvPr>
        </p:nvSpPr>
        <p:spPr/>
        <p:txBody>
          <a:bodyPr/>
          <a:lstStyle/>
          <a:p>
            <a:r>
              <a:rPr lang="en-GB">
                <a:cs typeface="Posterama"/>
              </a:rPr>
              <a:t>Conclusion</a:t>
            </a:r>
            <a:endParaRPr lang="en-GB"/>
          </a:p>
        </p:txBody>
      </p:sp>
      <p:sp>
        <p:nvSpPr>
          <p:cNvPr id="5" name="Content Placeholder 2">
            <a:extLst>
              <a:ext uri="{FF2B5EF4-FFF2-40B4-BE49-F238E27FC236}">
                <a16:creationId xmlns:a16="http://schemas.microsoft.com/office/drawing/2014/main" id="{ADB536D5-DCD4-1A93-9C75-82FF32971A57}"/>
              </a:ext>
            </a:extLst>
          </p:cNvPr>
          <p:cNvSpPr txBox="1">
            <a:spLocks/>
          </p:cNvSpPr>
          <p:nvPr/>
        </p:nvSpPr>
        <p:spPr>
          <a:xfrm>
            <a:off x="440555" y="1960230"/>
            <a:ext cx="10981980" cy="2503352"/>
          </a:xfrm>
          <a:prstGeom prst="rect">
            <a:avLst/>
          </a:prstGeom>
        </p:spPr>
        <p:txBody>
          <a:bodyPr vert="horz" lIns="91440" tIns="45720" rIns="91440" bIns="45720" rtlCol="0" anchor="t">
            <a:normAutofit fontScale="92500" lnSpcReduction="10000"/>
          </a:bodyPr>
          <a:lstStyle>
            <a:lvl1pPr marL="0" indent="0" algn="l" defTabSz="914400" rtl="0" eaLnBrk="1" latinLnBrk="0" hangingPunct="1">
              <a:lnSpc>
                <a:spcPct val="110000"/>
              </a:lnSpc>
              <a:spcBef>
                <a:spcPts val="1000"/>
              </a:spcBef>
              <a:buClr>
                <a:schemeClr val="accent5"/>
              </a:buClr>
              <a:buFont typeface="Avenir Next LT Pro" panose="020B05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10000"/>
              </a:lnSpc>
              <a:spcBef>
                <a:spcPts val="500"/>
              </a:spcBef>
              <a:buClr>
                <a:schemeClr val="accent5"/>
              </a:buClr>
              <a:buFont typeface="Avenir Next LT Pro" panose="020B05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Clr>
                <a:schemeClr val="accent5"/>
              </a:buClr>
              <a:buFont typeface="Avenir Next LT Pro" panose="020B05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Clr>
                <a:schemeClr val="accent5"/>
              </a:buClr>
              <a:buFont typeface="Avenir Next LT Pro" panose="020B05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a:solidFill>
                  <a:schemeClr val="accent3"/>
                </a:solidFill>
                <a:latin typeface="ADLaM Display"/>
                <a:ea typeface="ADLaM Display"/>
                <a:cs typeface="ADLaM Display"/>
              </a:rPr>
              <a:t>SIGNIFICANCE</a:t>
            </a:r>
          </a:p>
          <a:p>
            <a:pPr marL="342900" indent="-342900">
              <a:buFont typeface="Arial" panose="020B0504020202020204" pitchFamily="34" charset="0"/>
              <a:buChar char="•"/>
            </a:pPr>
            <a:r>
              <a:rPr lang="en-GB"/>
              <a:t>Increasing prominence of </a:t>
            </a:r>
            <a:r>
              <a:rPr lang="en-GB" b="1"/>
              <a:t>Digital Health Interventions (DHI) </a:t>
            </a:r>
            <a:r>
              <a:rPr lang="en-GB"/>
              <a:t>- reduce cost, access wider populations (Briggs et al., 2024)</a:t>
            </a:r>
          </a:p>
          <a:p>
            <a:pPr marL="342900" indent="-342900">
              <a:buFont typeface="Arial" panose="020B0504020202020204" pitchFamily="34" charset="0"/>
              <a:buChar char="•"/>
            </a:pPr>
            <a:r>
              <a:rPr lang="en-GB"/>
              <a:t>Tailored, patient-centric interventions  (</a:t>
            </a:r>
            <a:r>
              <a:rPr lang="en-GB" err="1"/>
              <a:t>Faleval</a:t>
            </a:r>
            <a:r>
              <a:rPr lang="en-GB"/>
              <a:t> &amp; </a:t>
            </a:r>
            <a:r>
              <a:rPr lang="en-GB" err="1"/>
              <a:t>Hassandoust</a:t>
            </a:r>
            <a:r>
              <a:rPr lang="en-GB"/>
              <a:t>, 2025)</a:t>
            </a:r>
          </a:p>
          <a:p>
            <a:pPr marL="342900" indent="-342900">
              <a:buFont typeface="Arial" panose="020B0504020202020204" pitchFamily="34" charset="0"/>
              <a:buChar char="•"/>
            </a:pPr>
            <a:r>
              <a:rPr lang="en-GB"/>
              <a:t>Our application – identify patients that require intervention</a:t>
            </a:r>
          </a:p>
          <a:p>
            <a:pPr marL="342900" indent="-342900">
              <a:buFont typeface="Arial" panose="020B0504020202020204" pitchFamily="34" charset="0"/>
              <a:buChar char="•"/>
            </a:pPr>
            <a:r>
              <a:rPr lang="en-GB"/>
              <a:t>Our application – target preoperative period (</a:t>
            </a:r>
            <a:r>
              <a:rPr lang="en-GB" b="1"/>
              <a:t>prehabilitation</a:t>
            </a:r>
            <a:r>
              <a:rPr lang="en-GB"/>
              <a:t>) </a:t>
            </a:r>
            <a:r>
              <a:rPr lang="en-GB" sz="2100"/>
              <a:t>(Briggs et al., 2024)</a:t>
            </a:r>
          </a:p>
          <a:p>
            <a:endParaRPr lang="en-GB"/>
          </a:p>
        </p:txBody>
      </p:sp>
      <p:pic>
        <p:nvPicPr>
          <p:cNvPr id="6" name="Picture 5" descr="WHO releases first guideline on digital health interventions - Altaira  Services">
            <a:extLst>
              <a:ext uri="{FF2B5EF4-FFF2-40B4-BE49-F238E27FC236}">
                <a16:creationId xmlns:a16="http://schemas.microsoft.com/office/drawing/2014/main" id="{A7B8ACA7-0DD3-F0B5-5FF7-334A428B8D12}"/>
              </a:ext>
            </a:extLst>
          </p:cNvPr>
          <p:cNvPicPr>
            <a:picLocks noChangeAspect="1"/>
          </p:cNvPicPr>
          <p:nvPr/>
        </p:nvPicPr>
        <p:blipFill>
          <a:blip r:embed="rId2"/>
          <a:stretch>
            <a:fillRect/>
          </a:stretch>
        </p:blipFill>
        <p:spPr>
          <a:xfrm>
            <a:off x="9360321" y="133694"/>
            <a:ext cx="2743199" cy="1582615"/>
          </a:xfrm>
          <a:prstGeom prst="rect">
            <a:avLst/>
          </a:prstGeom>
        </p:spPr>
      </p:pic>
      <p:sp>
        <p:nvSpPr>
          <p:cNvPr id="8" name="TextBox 7">
            <a:extLst>
              <a:ext uri="{FF2B5EF4-FFF2-40B4-BE49-F238E27FC236}">
                <a16:creationId xmlns:a16="http://schemas.microsoft.com/office/drawing/2014/main" id="{9AD495E8-DCD5-B91B-23FD-E7EFCA0118BD}"/>
              </a:ext>
            </a:extLst>
          </p:cNvPr>
          <p:cNvSpPr txBox="1"/>
          <p:nvPr/>
        </p:nvSpPr>
        <p:spPr>
          <a:xfrm>
            <a:off x="12794255" y="6404472"/>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F1F3F4"/>
                </a:solidFill>
                <a:latin typeface="Roboto-Medium"/>
                <a:hlinkClick r:id="rId3"/>
              </a:rPr>
              <a:t>1,300 × 750</a:t>
            </a:r>
            <a:endParaRPr lang="en-US"/>
          </a:p>
        </p:txBody>
      </p:sp>
      <p:sp>
        <p:nvSpPr>
          <p:cNvPr id="9" name="TextBox 8">
            <a:extLst>
              <a:ext uri="{FF2B5EF4-FFF2-40B4-BE49-F238E27FC236}">
                <a16:creationId xmlns:a16="http://schemas.microsoft.com/office/drawing/2014/main" id="{F079BEA4-B936-5B0C-5DD4-234534EA130A}"/>
              </a:ext>
            </a:extLst>
          </p:cNvPr>
          <p:cNvSpPr txBox="1"/>
          <p:nvPr/>
        </p:nvSpPr>
        <p:spPr>
          <a:xfrm>
            <a:off x="476142" y="4452724"/>
            <a:ext cx="11097657" cy="1126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900" b="1">
                <a:solidFill>
                  <a:srgbClr val="0AC8AD"/>
                </a:solidFill>
                <a:latin typeface="ADLaM Display"/>
              </a:rPr>
              <a:t>FUTURE WORK</a:t>
            </a:r>
            <a:endParaRPr lang="en-US">
              <a:solidFill>
                <a:srgbClr val="262626"/>
              </a:solidFill>
              <a:latin typeface="Avenir Next LT Pro"/>
            </a:endParaRPr>
          </a:p>
          <a:p>
            <a:pPr marL="342900" indent="-342900">
              <a:lnSpc>
                <a:spcPct val="110000"/>
              </a:lnSpc>
              <a:spcBef>
                <a:spcPts val="1000"/>
              </a:spcBef>
              <a:buFont typeface="Arial,Sans-Serif"/>
              <a:buChar char="•"/>
            </a:pPr>
            <a:r>
              <a:rPr lang="en-GB" sz="1900">
                <a:solidFill>
                  <a:srgbClr val="262626"/>
                </a:solidFill>
                <a:latin typeface="Avenir Next LT Pro"/>
                <a:ea typeface="ADLaM Display"/>
                <a:cs typeface="ADLaM Display"/>
              </a:rPr>
              <a:t>Find better feature selection methods, specifically networking (choosing significant genes)</a:t>
            </a:r>
          </a:p>
          <a:p>
            <a:endParaRPr lang="en-GB" sz="1900" b="1">
              <a:solidFill>
                <a:srgbClr val="0AC8AD"/>
              </a:solidFill>
              <a:latin typeface="ADLaM Display"/>
              <a:ea typeface="ADLaM Display"/>
              <a:cs typeface="ADLaM Display"/>
            </a:endParaRPr>
          </a:p>
        </p:txBody>
      </p:sp>
    </p:spTree>
    <p:extLst>
      <p:ext uri="{BB962C8B-B14F-4D97-AF65-F5344CB8AC3E}">
        <p14:creationId xmlns:p14="http://schemas.microsoft.com/office/powerpoint/2010/main" val="3683308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ề 1">
            <a:extLst>
              <a:ext uri="{FF2B5EF4-FFF2-40B4-BE49-F238E27FC236}">
                <a16:creationId xmlns:a16="http://schemas.microsoft.com/office/drawing/2014/main" id="{8858B815-755C-DB04-3068-73C37F3BDDF0}"/>
              </a:ext>
            </a:extLst>
          </p:cNvPr>
          <p:cNvSpPr>
            <a:spLocks noGrp="1"/>
          </p:cNvSpPr>
          <p:nvPr>
            <p:ph type="title"/>
          </p:nvPr>
        </p:nvSpPr>
        <p:spPr/>
        <p:txBody>
          <a:bodyPr/>
          <a:lstStyle/>
          <a:p>
            <a:r>
              <a:rPr lang="en-GB">
                <a:cs typeface="Posterama"/>
              </a:rPr>
              <a:t>Shiny Application Demonstration</a:t>
            </a:r>
            <a:endParaRPr lang="vi-VN">
              <a:cs typeface="Posterama"/>
            </a:endParaRPr>
          </a:p>
        </p:txBody>
      </p:sp>
      <p:pic>
        <p:nvPicPr>
          <p:cNvPr id="4" name="Chỗ dành sẵn cho Nội dung 3" descr="Ảnh có chứa mẫu, Đồ họa, điểm ảnh, thiết kế&#10;&#10;Nội dung do AI tạo ra có thể không chính xác.">
            <a:extLst>
              <a:ext uri="{FF2B5EF4-FFF2-40B4-BE49-F238E27FC236}">
                <a16:creationId xmlns:a16="http://schemas.microsoft.com/office/drawing/2014/main" id="{DDE85B20-0689-539F-0E83-E9408150BC66}"/>
              </a:ext>
            </a:extLst>
          </p:cNvPr>
          <p:cNvPicPr>
            <a:picLocks noGrp="1" noChangeAspect="1"/>
          </p:cNvPicPr>
          <p:nvPr>
            <p:ph idx="1"/>
          </p:nvPr>
        </p:nvPicPr>
        <p:blipFill>
          <a:blip r:embed="rId2"/>
          <a:stretch>
            <a:fillRect/>
          </a:stretch>
        </p:blipFill>
        <p:spPr>
          <a:xfrm>
            <a:off x="3934187" y="2059113"/>
            <a:ext cx="4333272" cy="4342917"/>
          </a:xfrm>
        </p:spPr>
      </p:pic>
    </p:spTree>
    <p:extLst>
      <p:ext uri="{BB962C8B-B14F-4D97-AF65-F5344CB8AC3E}">
        <p14:creationId xmlns:p14="http://schemas.microsoft.com/office/powerpoint/2010/main" val="2224351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9E117-E82C-9AEC-2039-19BE1B2C5782}"/>
              </a:ext>
            </a:extLst>
          </p:cNvPr>
          <p:cNvSpPr>
            <a:spLocks noGrp="1"/>
          </p:cNvSpPr>
          <p:nvPr>
            <p:ph type="title"/>
          </p:nvPr>
        </p:nvSpPr>
        <p:spPr/>
        <p:txBody>
          <a:bodyPr/>
          <a:lstStyle/>
          <a:p>
            <a:r>
              <a:rPr lang="en-GB">
                <a:cs typeface="Posterama"/>
              </a:rPr>
              <a:t>Shiny Application Demonstration</a:t>
            </a:r>
            <a:endParaRPr lang="en-GB"/>
          </a:p>
        </p:txBody>
      </p:sp>
      <p:sp>
        <p:nvSpPr>
          <p:cNvPr id="3" name="Content Placeholder 2">
            <a:extLst>
              <a:ext uri="{FF2B5EF4-FFF2-40B4-BE49-F238E27FC236}">
                <a16:creationId xmlns:a16="http://schemas.microsoft.com/office/drawing/2014/main" id="{30413A6B-3223-3969-4249-8FB98D664E04}"/>
              </a:ext>
            </a:extLst>
          </p:cNvPr>
          <p:cNvSpPr>
            <a:spLocks noGrp="1"/>
          </p:cNvSpPr>
          <p:nvPr>
            <p:ph idx="1"/>
          </p:nvPr>
        </p:nvSpPr>
        <p:spPr/>
        <p:txBody>
          <a:bodyPr/>
          <a:lstStyle/>
          <a:p>
            <a:endParaRPr lang="en-GB"/>
          </a:p>
        </p:txBody>
      </p:sp>
      <p:pic>
        <p:nvPicPr>
          <p:cNvPr id="4" name="Screen Recording 2025-05-26 at 03.02.09">
            <a:extLst>
              <a:ext uri="{FF2B5EF4-FFF2-40B4-BE49-F238E27FC236}">
                <a16:creationId xmlns:a16="http://schemas.microsoft.com/office/drawing/2014/main" id="{55A1E055-112A-ACC6-652D-4E296CB4CAED}"/>
              </a:ext>
            </a:extLst>
          </p:cNvPr>
          <p:cNvPicPr>
            <a:picLocks noChangeAspect="1"/>
          </p:cNvPicPr>
          <p:nvPr/>
        </p:nvPicPr>
        <p:blipFill>
          <a:blip r:embed="rId4"/>
          <a:stretch>
            <a:fillRect/>
          </a:stretch>
        </p:blipFill>
        <p:spPr>
          <a:xfrm>
            <a:off x="2140299" y="2109316"/>
            <a:ext cx="7919777" cy="4456445"/>
          </a:xfrm>
          <a:prstGeom prst="rect">
            <a:avLst/>
          </a:prstGeom>
        </p:spPr>
      </p:pic>
    </p:spTree>
    <p:extLst>
      <p:ext uri="{BB962C8B-B14F-4D97-AF65-F5344CB8AC3E}">
        <p14:creationId xmlns:p14="http://schemas.microsoft.com/office/powerpoint/2010/main" val="1321814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CC1E4-0143-F586-E6E6-5CE8230D4E75}"/>
              </a:ext>
            </a:extLst>
          </p:cNvPr>
          <p:cNvSpPr>
            <a:spLocks noGrp="1"/>
          </p:cNvSpPr>
          <p:nvPr>
            <p:ph type="title"/>
          </p:nvPr>
        </p:nvSpPr>
        <p:spPr/>
        <p:txBody>
          <a:bodyPr/>
          <a:lstStyle/>
          <a:p>
            <a:r>
              <a:rPr lang="en-GB">
                <a:cs typeface="Posterama"/>
              </a:rPr>
              <a:t>References</a:t>
            </a:r>
            <a:endParaRPr lang="en-GB"/>
          </a:p>
        </p:txBody>
      </p:sp>
      <p:sp>
        <p:nvSpPr>
          <p:cNvPr id="3" name="Content Placeholder 2">
            <a:extLst>
              <a:ext uri="{FF2B5EF4-FFF2-40B4-BE49-F238E27FC236}">
                <a16:creationId xmlns:a16="http://schemas.microsoft.com/office/drawing/2014/main" id="{16DB244C-B40D-3970-9E2B-C6C1C7771246}"/>
              </a:ext>
            </a:extLst>
          </p:cNvPr>
          <p:cNvSpPr>
            <a:spLocks noGrp="1"/>
          </p:cNvSpPr>
          <p:nvPr>
            <p:ph idx="1"/>
          </p:nvPr>
        </p:nvSpPr>
        <p:spPr/>
        <p:txBody>
          <a:bodyPr vert="horz" lIns="91440" tIns="45720" rIns="91440" bIns="45720" rtlCol="0" anchor="t">
            <a:normAutofit/>
          </a:bodyPr>
          <a:lstStyle/>
          <a:p>
            <a:r>
              <a:rPr lang="en-GB" sz="1200">
                <a:solidFill>
                  <a:srgbClr val="212121"/>
                </a:solidFill>
                <a:latin typeface="Avenir Next LT Pro"/>
                <a:cs typeface="Arial"/>
              </a:rPr>
              <a:t>Briggs, J., Chilcot, J., &amp; Greenwood, S. A. (2024). The use of digital health interventions to deliver prehabilitation in solid organ transplant recipients: are we there yet?. </a:t>
            </a:r>
            <a:r>
              <a:rPr lang="en-GB" sz="1200" i="1">
                <a:solidFill>
                  <a:srgbClr val="212121"/>
                </a:solidFill>
                <a:latin typeface="Avenir Next LT Pro"/>
                <a:cs typeface="Arial"/>
              </a:rPr>
              <a:t>Current opinion in organ transplantation</a:t>
            </a:r>
            <a:r>
              <a:rPr lang="en-GB" sz="1200">
                <a:solidFill>
                  <a:srgbClr val="212121"/>
                </a:solidFill>
                <a:latin typeface="Avenir Next LT Pro"/>
                <a:cs typeface="Arial"/>
              </a:rPr>
              <a:t>, </a:t>
            </a:r>
            <a:r>
              <a:rPr lang="en-GB" sz="1200" i="1">
                <a:solidFill>
                  <a:srgbClr val="212121"/>
                </a:solidFill>
                <a:latin typeface="Avenir Next LT Pro"/>
                <a:cs typeface="Arial"/>
              </a:rPr>
              <a:t>29</a:t>
            </a:r>
            <a:r>
              <a:rPr lang="en-GB" sz="1200">
                <a:solidFill>
                  <a:srgbClr val="212121"/>
                </a:solidFill>
                <a:latin typeface="Avenir Next LT Pro"/>
                <a:cs typeface="Arial"/>
              </a:rPr>
              <a:t>(5), 357–362. </a:t>
            </a:r>
            <a:r>
              <a:rPr lang="en-GB" sz="1200">
                <a:solidFill>
                  <a:srgbClr val="222222"/>
                </a:solidFill>
                <a:latin typeface="Avenir Next LT Pro"/>
                <a:cs typeface="Arial"/>
                <a:hlinkClick r:id="rId2"/>
              </a:rPr>
              <a:t>https://doi.org/10.1097/MOT.0000000000001164</a:t>
            </a:r>
            <a:endParaRPr lang="en-GB" sz="1200">
              <a:solidFill>
                <a:srgbClr val="000000"/>
              </a:solidFill>
              <a:latin typeface="Avenir Next LT Pro"/>
              <a:cs typeface="Arial"/>
            </a:endParaRPr>
          </a:p>
          <a:p>
            <a:r>
              <a:rPr lang="en-GB" sz="1200" err="1">
                <a:solidFill>
                  <a:srgbClr val="222222"/>
                </a:solidFill>
                <a:latin typeface="Avenir Next LT Pro"/>
                <a:cs typeface="Arial"/>
              </a:rPr>
              <a:t>Falevai</a:t>
            </a:r>
            <a:r>
              <a:rPr lang="en-GB" sz="1200">
                <a:solidFill>
                  <a:srgbClr val="222222"/>
                </a:solidFill>
                <a:latin typeface="Avenir Next LT Pro"/>
                <a:cs typeface="Arial"/>
              </a:rPr>
              <a:t>, I., &amp; </a:t>
            </a:r>
            <a:r>
              <a:rPr lang="en-GB" sz="1200" err="1">
                <a:solidFill>
                  <a:srgbClr val="222222"/>
                </a:solidFill>
                <a:latin typeface="Avenir Next LT Pro"/>
                <a:cs typeface="Arial"/>
              </a:rPr>
              <a:t>Hassandoust</a:t>
            </a:r>
            <a:r>
              <a:rPr lang="en-GB" sz="1200">
                <a:solidFill>
                  <a:srgbClr val="222222"/>
                </a:solidFill>
                <a:latin typeface="Avenir Next LT Pro"/>
                <a:cs typeface="Arial"/>
              </a:rPr>
              <a:t>, F. (2025). Enhancing Transplantation Care with eHealth: Benefits, Challenges, and Key Considerations for the Future. </a:t>
            </a:r>
            <a:r>
              <a:rPr lang="en-GB" sz="1200" i="1">
                <a:solidFill>
                  <a:srgbClr val="222222"/>
                </a:solidFill>
                <a:latin typeface="Avenir Next LT Pro"/>
                <a:cs typeface="Arial"/>
              </a:rPr>
              <a:t>Future Internet</a:t>
            </a:r>
            <a:r>
              <a:rPr lang="en-GB" sz="1200">
                <a:solidFill>
                  <a:srgbClr val="222222"/>
                </a:solidFill>
                <a:latin typeface="Avenir Next LT Pro"/>
                <a:cs typeface="Arial"/>
              </a:rPr>
              <a:t>, </a:t>
            </a:r>
            <a:r>
              <a:rPr lang="en-GB" sz="1200" i="1">
                <a:solidFill>
                  <a:srgbClr val="222222"/>
                </a:solidFill>
                <a:latin typeface="Avenir Next LT Pro"/>
                <a:cs typeface="Arial"/>
              </a:rPr>
              <a:t>17</a:t>
            </a:r>
            <a:r>
              <a:rPr lang="en-GB" sz="1200">
                <a:solidFill>
                  <a:srgbClr val="222222"/>
                </a:solidFill>
                <a:latin typeface="Avenir Next LT Pro"/>
                <a:cs typeface="Arial"/>
              </a:rPr>
              <a:t>(4), 177. </a:t>
            </a:r>
            <a:r>
              <a:rPr lang="en-GB" sz="1200">
                <a:solidFill>
                  <a:srgbClr val="222222"/>
                </a:solidFill>
                <a:latin typeface="Avenir Next LT Pro"/>
                <a:cs typeface="Arial"/>
                <a:hlinkClick r:id="rId3"/>
              </a:rPr>
              <a:t>https://doi.org/10.3390/fi17040177</a:t>
            </a:r>
            <a:endParaRPr lang="en-US" sz="1200">
              <a:solidFill>
                <a:srgbClr val="262626"/>
              </a:solidFill>
              <a:latin typeface="Avenir Next LT Pro"/>
              <a:cs typeface="Arial"/>
            </a:endParaRPr>
          </a:p>
          <a:p>
            <a:r>
              <a:rPr lang="en-US" sz="1200">
                <a:solidFill>
                  <a:srgbClr val="1B1B1B"/>
                </a:solidFill>
                <a:latin typeface="Avenir Next LT Pro"/>
                <a:cs typeface="Arial"/>
              </a:rPr>
              <a:t>Higdon, L. E., Tan, J. C., &amp; Maltzman, J. S. (2023). Infection, Rejection, and the Connection. </a:t>
            </a:r>
            <a:r>
              <a:rPr lang="en-US" sz="1200" i="1">
                <a:solidFill>
                  <a:srgbClr val="1B1B1B"/>
                </a:solidFill>
                <a:latin typeface="Avenir Next LT Pro"/>
                <a:cs typeface="Arial"/>
              </a:rPr>
              <a:t>Transplantation</a:t>
            </a:r>
            <a:r>
              <a:rPr lang="en-US" sz="1200">
                <a:solidFill>
                  <a:srgbClr val="1B1B1B"/>
                </a:solidFill>
                <a:latin typeface="Avenir Next LT Pro"/>
                <a:cs typeface="Arial"/>
              </a:rPr>
              <a:t>, </a:t>
            </a:r>
            <a:r>
              <a:rPr lang="en-US" sz="1200" i="1">
                <a:solidFill>
                  <a:srgbClr val="1B1B1B"/>
                </a:solidFill>
                <a:latin typeface="Avenir Next LT Pro"/>
                <a:cs typeface="Arial"/>
              </a:rPr>
              <a:t>107</a:t>
            </a:r>
            <a:r>
              <a:rPr lang="en-US" sz="1200">
                <a:solidFill>
                  <a:srgbClr val="1B1B1B"/>
                </a:solidFill>
                <a:latin typeface="Avenir Next LT Pro"/>
                <a:cs typeface="Arial"/>
              </a:rPr>
              <a:t>(3), 584–595. </a:t>
            </a:r>
            <a:r>
              <a:rPr lang="en-US" sz="1200">
                <a:solidFill>
                  <a:srgbClr val="1B1B1B"/>
                </a:solidFill>
                <a:latin typeface="Avenir Next LT Pro"/>
                <a:cs typeface="Arial"/>
                <a:hlinkClick r:id="rId4"/>
              </a:rPr>
              <a:t>https://doi.org/10.1097/TP.0000000000004297</a:t>
            </a:r>
            <a:endParaRPr lang="en-GB" sz="1200">
              <a:solidFill>
                <a:srgbClr val="000000"/>
              </a:solidFill>
              <a:latin typeface="Avenir Next LT Pro"/>
              <a:cs typeface="Arial"/>
            </a:endParaRPr>
          </a:p>
          <a:p>
            <a:r>
              <a:rPr lang="en-US" sz="1200">
                <a:solidFill>
                  <a:srgbClr val="222222"/>
                </a:solidFill>
                <a:latin typeface="Avenir Next LT Pro"/>
                <a:cs typeface="Arial"/>
              </a:rPr>
              <a:t>Naik RH, Shawar SH. Renal Transplantation Rejection. [Updated 2023 Feb 9]. In: </a:t>
            </a:r>
            <a:r>
              <a:rPr lang="en-US" sz="1200" err="1">
                <a:solidFill>
                  <a:srgbClr val="222222"/>
                </a:solidFill>
                <a:latin typeface="Avenir Next LT Pro"/>
                <a:cs typeface="Arial"/>
              </a:rPr>
              <a:t>StatPearls</a:t>
            </a:r>
            <a:r>
              <a:rPr lang="en-US" sz="1200">
                <a:solidFill>
                  <a:srgbClr val="222222"/>
                </a:solidFill>
                <a:latin typeface="Avenir Next LT Pro"/>
                <a:cs typeface="Arial"/>
              </a:rPr>
              <a:t> [Internet]. Treasure Island (FL): </a:t>
            </a:r>
            <a:r>
              <a:rPr lang="en-US" sz="1200" err="1">
                <a:solidFill>
                  <a:srgbClr val="222222"/>
                </a:solidFill>
                <a:latin typeface="Avenir Next LT Pro"/>
                <a:cs typeface="Arial"/>
              </a:rPr>
              <a:t>StatPearls</a:t>
            </a:r>
            <a:r>
              <a:rPr lang="en-US" sz="1200">
                <a:solidFill>
                  <a:srgbClr val="222222"/>
                </a:solidFill>
                <a:latin typeface="Avenir Next LT Pro"/>
                <a:cs typeface="Arial"/>
              </a:rPr>
              <a:t> Publishing; 2025 Jan-. Available from: </a:t>
            </a:r>
            <a:r>
              <a:rPr lang="en-US" sz="1200">
                <a:solidFill>
                  <a:srgbClr val="1B1B1B"/>
                </a:solidFill>
                <a:latin typeface="Avenir Next LT Pro"/>
                <a:cs typeface="Arial"/>
                <a:hlinkClick r:id="rId5"/>
              </a:rPr>
              <a:t>https://www.ncbi.nlm.nih.gov/books/NBK553074/</a:t>
            </a:r>
            <a:endParaRPr lang="en-US" sz="1200">
              <a:solidFill>
                <a:srgbClr val="000000"/>
              </a:solidFill>
              <a:latin typeface="Avenir Next LT Pro"/>
              <a:cs typeface="Arial"/>
            </a:endParaRPr>
          </a:p>
          <a:p>
            <a:r>
              <a:rPr lang="en-US" sz="1200">
                <a:latin typeface="Avenir Next LT Pro"/>
                <a:cs typeface="Times New Roman"/>
              </a:rPr>
              <a:t>Wu, D., Liu, X., Liu, C., Liu, Z., Xu, M., Rong, R., Qian, M., Chen, L. and Zhu, T. (2014). Network analysis reveals roles of inflammatory factors in different phenotypes of kidney transplant patients. </a:t>
            </a:r>
            <a:r>
              <a:rPr lang="en-US" sz="1200" i="1">
                <a:latin typeface="Avenir Next LT Pro"/>
                <a:cs typeface="Times New Roman"/>
              </a:rPr>
              <a:t>Journal of Theoretical Biology</a:t>
            </a:r>
            <a:r>
              <a:rPr lang="en-US" sz="1200">
                <a:latin typeface="Avenir Next LT Pro"/>
                <a:cs typeface="Times New Roman"/>
              </a:rPr>
              <a:t>, 362, pp.62–68. </a:t>
            </a:r>
            <a:r>
              <a:rPr lang="en-US" sz="1200">
                <a:latin typeface="Avenir Next LT Pro"/>
                <a:cs typeface="Times New Roman"/>
                <a:hlinkClick r:id="rId6"/>
              </a:rPr>
              <a:t>https://doi.org/10.1016/j.jtbi.2014.03.006</a:t>
            </a:r>
            <a:endParaRPr lang="en-US">
              <a:latin typeface="Avenir Next LT Pro"/>
              <a:cs typeface="Times New Roman"/>
            </a:endParaRPr>
          </a:p>
          <a:p>
            <a:br>
              <a:rPr lang="en-US"/>
            </a:br>
            <a:br>
              <a:rPr lang="en-US"/>
            </a:br>
            <a:endParaRPr lang="en-US" sz="1200"/>
          </a:p>
          <a:p>
            <a:endParaRPr lang="en-GB" sz="1200">
              <a:solidFill>
                <a:srgbClr val="212121"/>
              </a:solidFill>
              <a:ea typeface="+mn-lt"/>
              <a:cs typeface="+mn-lt"/>
            </a:endParaRPr>
          </a:p>
          <a:p>
            <a:endParaRPr lang="en-GB" sz="1200">
              <a:solidFill>
                <a:srgbClr val="212121"/>
              </a:solidFill>
            </a:endParaRPr>
          </a:p>
        </p:txBody>
      </p:sp>
    </p:spTree>
    <p:extLst>
      <p:ext uri="{BB962C8B-B14F-4D97-AF65-F5344CB8AC3E}">
        <p14:creationId xmlns:p14="http://schemas.microsoft.com/office/powerpoint/2010/main" val="3129762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073F6-A154-EC55-D83B-7E549FE70B75}"/>
              </a:ext>
            </a:extLst>
          </p:cNvPr>
          <p:cNvSpPr>
            <a:spLocks noGrp="1"/>
          </p:cNvSpPr>
          <p:nvPr>
            <p:ph type="title"/>
          </p:nvPr>
        </p:nvSpPr>
        <p:spPr/>
        <p:txBody>
          <a:bodyPr/>
          <a:lstStyle/>
          <a:p>
            <a:r>
              <a:rPr lang="en-AU"/>
              <a:t>Marking Criteria</a:t>
            </a:r>
            <a:endParaRPr lang="en-US"/>
          </a:p>
        </p:txBody>
      </p:sp>
      <p:sp>
        <p:nvSpPr>
          <p:cNvPr id="3" name="Content Placeholder 2">
            <a:extLst>
              <a:ext uri="{FF2B5EF4-FFF2-40B4-BE49-F238E27FC236}">
                <a16:creationId xmlns:a16="http://schemas.microsoft.com/office/drawing/2014/main" id="{8FF12630-DCBF-6B87-A013-7B002C7186A1}"/>
              </a:ext>
            </a:extLst>
          </p:cNvPr>
          <p:cNvSpPr>
            <a:spLocks noGrp="1"/>
          </p:cNvSpPr>
          <p:nvPr>
            <p:ph idx="1"/>
          </p:nvPr>
        </p:nvSpPr>
        <p:spPr/>
        <p:txBody>
          <a:bodyPr>
            <a:normAutofit fontScale="55000" lnSpcReduction="20000"/>
          </a:bodyPr>
          <a:lstStyle/>
          <a:p>
            <a:r>
              <a:rPr lang="en-AU" b="0" i="0" u="none" strike="noStrike" dirty="0">
                <a:solidFill>
                  <a:srgbClr val="000000"/>
                </a:solidFill>
                <a:effectLst/>
                <a:latin typeface="Lato-Regular"/>
              </a:rPr>
              <a:t>3.1. Provides appropriate context and motivational</a:t>
            </a:r>
            <a:br>
              <a:rPr lang="en-AU"/>
            </a:br>
            <a:r>
              <a:rPr lang="en-AU" b="0" i="0" u="none" strike="noStrike" dirty="0">
                <a:solidFill>
                  <a:srgbClr val="000000"/>
                </a:solidFill>
                <a:effectLst/>
                <a:latin typeface="Lato-Regular"/>
              </a:rPr>
              <a:t>background.</a:t>
            </a:r>
            <a:br>
              <a:rPr lang="en-AU"/>
            </a:br>
            <a:br>
              <a:rPr lang="en-AU"/>
            </a:br>
            <a:r>
              <a:rPr lang="en-AU" b="0" i="0" u="none" strike="noStrike" dirty="0">
                <a:solidFill>
                  <a:srgbClr val="000000"/>
                </a:solidFill>
                <a:effectLst/>
                <a:latin typeface="Lato-Regular"/>
              </a:rPr>
              <a:t>3.2. Underlying multidisciplinary concepts</a:t>
            </a:r>
            <a:br>
              <a:rPr lang="en-AU"/>
            </a:br>
            <a:r>
              <a:rPr lang="en-AU" b="0" i="0" u="none" strike="noStrike" dirty="0">
                <a:solidFill>
                  <a:srgbClr val="000000"/>
                </a:solidFill>
                <a:effectLst/>
                <a:latin typeface="Lato-Regular"/>
              </a:rPr>
              <a:t>explained well in appropriate language.</a:t>
            </a:r>
            <a:br>
              <a:rPr lang="en-AU"/>
            </a:br>
            <a:br>
              <a:rPr lang="en-AU"/>
            </a:br>
            <a:br>
              <a:rPr lang="en-AU"/>
            </a:br>
            <a:r>
              <a:rPr lang="en-AU" b="0" i="0" u="none" strike="noStrike" dirty="0">
                <a:solidFill>
                  <a:srgbClr val="000000"/>
                </a:solidFill>
                <a:effectLst/>
                <a:latin typeface="Lato-Regular"/>
              </a:rPr>
              <a:t>3.3. Succinct overview of the method including</a:t>
            </a:r>
            <a:br>
              <a:rPr lang="en-AU"/>
            </a:br>
            <a:r>
              <a:rPr lang="en-AU" b="0" i="0" u="none" strike="noStrike" dirty="0">
                <a:solidFill>
                  <a:srgbClr val="000000"/>
                </a:solidFill>
                <a:effectLst/>
                <a:latin typeface="Lato-Regular"/>
              </a:rPr>
              <a:t>data collection and model development.</a:t>
            </a:r>
            <a:br>
              <a:rPr lang="en-AU"/>
            </a:br>
            <a:br>
              <a:rPr lang="en-AU"/>
            </a:br>
            <a:br>
              <a:rPr lang="en-AU"/>
            </a:br>
            <a:r>
              <a:rPr lang="en-AU" b="0" i="0" u="none" strike="noStrike" dirty="0">
                <a:solidFill>
                  <a:srgbClr val="000000"/>
                </a:solidFill>
                <a:effectLst/>
                <a:latin typeface="Lato-Regular"/>
              </a:rPr>
              <a:t>3.4. Results - clear description of the deployment</a:t>
            </a:r>
            <a:br>
              <a:rPr lang="en-AU"/>
            </a:br>
            <a:r>
              <a:rPr lang="en-AU" b="0" i="0" u="none" strike="noStrike" dirty="0">
                <a:solidFill>
                  <a:srgbClr val="000000"/>
                </a:solidFill>
                <a:effectLst/>
                <a:latin typeface="Lato-Regular"/>
              </a:rPr>
              <a:t>process.</a:t>
            </a:r>
            <a:br>
              <a:rPr lang="en-AU"/>
            </a:br>
            <a:br>
              <a:rPr lang="en-AU"/>
            </a:br>
            <a:br>
              <a:rPr lang="en-AU"/>
            </a:br>
            <a:r>
              <a:rPr lang="en-AU" b="0" i="0" u="none" strike="noStrike" dirty="0">
                <a:solidFill>
                  <a:srgbClr val="000000"/>
                </a:solidFill>
                <a:effectLst/>
                <a:latin typeface="Lato-Regular"/>
              </a:rPr>
              <a:t>3.5. Engaging and clear illustration of the product</a:t>
            </a:r>
            <a:br>
              <a:rPr lang="en-AU"/>
            </a:br>
            <a:r>
              <a:rPr lang="en-AU" b="0" i="0" u="none" strike="noStrike" dirty="0">
                <a:solidFill>
                  <a:srgbClr val="000000"/>
                </a:solidFill>
                <a:effectLst/>
                <a:latin typeface="Lato-Regular"/>
              </a:rPr>
              <a:t>with discussion of multidisciplinary concepts.</a:t>
            </a:r>
            <a:br>
              <a:rPr lang="en-AU"/>
            </a:br>
            <a:br>
              <a:rPr lang="en-AU"/>
            </a:br>
            <a:br>
              <a:rPr lang="en-AU"/>
            </a:br>
            <a:r>
              <a:rPr lang="en-AU" b="0" i="0" u="none" strike="noStrike" dirty="0">
                <a:solidFill>
                  <a:srgbClr val="000000"/>
                </a:solidFill>
                <a:effectLst/>
                <a:latin typeface="Lato-Regular"/>
              </a:rPr>
              <a:t>3.6. Conclusion adequately summarises the project</a:t>
            </a:r>
            <a:br>
              <a:rPr lang="en-AU"/>
            </a:br>
            <a:r>
              <a:rPr lang="en-AU" b="0" i="0" u="none" strike="noStrike" dirty="0">
                <a:solidFill>
                  <a:srgbClr val="000000"/>
                </a:solidFill>
                <a:effectLst/>
                <a:latin typeface="Lato-Regular"/>
              </a:rPr>
              <a:t>and identification of future work.</a:t>
            </a:r>
            <a:br>
              <a:rPr lang="en-AU"/>
            </a:br>
            <a:br>
              <a:rPr lang="en-AU"/>
            </a:br>
            <a:br>
              <a:rPr lang="en-AU"/>
            </a:br>
            <a:r>
              <a:rPr lang="en-AU" b="0" i="0" u="none" strike="noStrike" dirty="0">
                <a:solidFill>
                  <a:srgbClr val="000000"/>
                </a:solidFill>
                <a:effectLst/>
                <a:latin typeface="Lato-Regular"/>
              </a:rPr>
              <a:t>3.7. Appropriate referencing and acknowledgment.</a:t>
            </a:r>
            <a:endParaRPr lang="en-US" dirty="0"/>
          </a:p>
        </p:txBody>
      </p:sp>
    </p:spTree>
    <p:extLst>
      <p:ext uri="{BB962C8B-B14F-4D97-AF65-F5344CB8AC3E}">
        <p14:creationId xmlns:p14="http://schemas.microsoft.com/office/powerpoint/2010/main" val="809631389"/>
      </p:ext>
    </p:extLst>
  </p:cSld>
  <p:clrMapOvr>
    <a:masterClrMapping/>
  </p:clrMapOvr>
</p:sld>
</file>

<file path=ppt/theme/theme1.xml><?xml version="1.0" encoding="utf-8"?>
<a:theme xmlns:a="http://schemas.openxmlformats.org/drawingml/2006/main" name="SplashVTI">
  <a:themeElements>
    <a:clrScheme name="Custom 11">
      <a:dk1>
        <a:srgbClr val="262626"/>
      </a:dk1>
      <a:lt1>
        <a:sysClr val="window" lastClr="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plashVTI" id="{CD38C481-21EC-466B-953B-A1440B42712A}" vid="{D3E4813C-1D98-48C2-AF59-2D0D78E2550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Màn hình rộng</PresentationFormat>
  <Slides>20</Slides>
  <Notes>6</Notes>
  <HiddenSlides>1</HiddenSlides>
  <ScaleCrop>false</ScaleCrop>
  <HeadingPairs>
    <vt:vector size="4" baseType="variant">
      <vt:variant>
        <vt:lpstr>Chủ đề</vt:lpstr>
      </vt:variant>
      <vt:variant>
        <vt:i4>1</vt:i4>
      </vt:variant>
      <vt:variant>
        <vt:lpstr>Tiêu đề Bản chiếu</vt:lpstr>
      </vt:variant>
      <vt:variant>
        <vt:i4>20</vt:i4>
      </vt:variant>
    </vt:vector>
  </HeadingPairs>
  <TitlesOfParts>
    <vt:vector size="21" baseType="lpstr">
      <vt:lpstr>SplashVTI</vt:lpstr>
      <vt:lpstr>Predicting Kidney Allograft Outcomes for Clinicians</vt:lpstr>
      <vt:lpstr>Why Kidney allograft rejection? </vt:lpstr>
      <vt:lpstr>Aim</vt:lpstr>
      <vt:lpstr>Methods - Workflow</vt:lpstr>
      <vt:lpstr>Methods - Workflow</vt:lpstr>
      <vt:lpstr>Methods - Workflow</vt:lpstr>
      <vt:lpstr>Innovation – Network Theory </vt:lpstr>
      <vt:lpstr>Methods - Workflow</vt:lpstr>
      <vt:lpstr>Methods - Workflow</vt:lpstr>
      <vt:lpstr>Results – Biopsy feature selection </vt:lpstr>
      <vt:lpstr>Results – Blood feature selection </vt:lpstr>
      <vt:lpstr>Results – Biopsy model selection </vt:lpstr>
      <vt:lpstr>Results – Blood model selection </vt:lpstr>
      <vt:lpstr>Discussion – limitations </vt:lpstr>
      <vt:lpstr>Discussion – validity</vt:lpstr>
      <vt:lpstr>Conclusion</vt:lpstr>
      <vt:lpstr>Shiny Application Demonstration</vt:lpstr>
      <vt:lpstr>Shiny Application Demonstration</vt:lpstr>
      <vt:lpstr>References</vt:lpstr>
      <vt:lpstr>Marking Criteria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Kidney Allograft Rejection Prediction for Clinicians</dc:title>
  <cp:revision>16</cp:revision>
  <dcterms:created xsi:type="dcterms:W3CDTF">2025-05-12T01:16:02Z</dcterms:created>
  <dcterms:modified xsi:type="dcterms:W3CDTF">2025-05-25T17:19:44Z</dcterms:modified>
</cp:coreProperties>
</file>